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charts/chart1.xml" ContentType="application/vnd.openxmlformats-officedocument.drawingml.chart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</p:sldIdLst>
  <p:notesMasterIdLst>
    <p:notesMasterId r:id="rId13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notesMaster" Target="notesMasters/notesMaster1.xml"/><Relationship Id="rId14" Type="http://schemas.openxmlformats.org/officeDocument/2006/relationships/presProps" Target="presProps.xml"/><Relationship Id="rId15" Type="http://schemas.openxmlformats.org/officeDocument/2006/relationships/viewProps" Target="viewProps.xml"/><Relationship Id="rId16" Type="http://schemas.openxmlformats.org/officeDocument/2006/relationships/theme" Target="theme/theme1.xml"/><Relationship Id="rId17" Type="http://schemas.openxmlformats.org/officeDocument/2006/relationships/tableStyles" Target="tableStyles.xml"/></Relationships>
</file>

<file path=ppt/charts/_rels/chart1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title>
      <c:tx>
        <c:rich>
          <a:bodyPr/>
          <a:lstStyle/>
          <a:p>
            <a:pPr>
              <a:defRPr sz="1300" b="0" i="0" u="none" strike="noStrike">
                <a:solidFill>
                  <a:srgbClr val="2B2B33"/>
                </a:solidFill>
                <a:latin typeface="Calibri"/>
              </a:defRPr>
            </a:pPr>
            <a:r>
              <a:rPr sz="1300" b="0" i="0" u="none" strike="noStrike">
                <a:solidFill>
                  <a:srgbClr val="2B2B33"/>
                </a:solidFill>
                <a:latin typeface="Calibri"/>
              </a:rPr>
              <a:t>How many schools we can actually score</a:t>
            </a:r>
          </a:p>
        </c:rich>
      </c:tx>
      <c:layout/>
      <c:overlay val="0"/>
    </c:title>
    <c:autoTitleDeleted val="0"/>
    <c:plotArea>
      <c:layout/>
      <c:barChart>
        <c:barDir val="bar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Schools</c:v>
                </c:pt>
              </c:strCache>
            </c:strRef>
          </c:tx>
          <c:spPr>
            <a:solidFill>
              <a:srgbClr val="4E2A84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000" u="none">
                    <a:solidFill>
                      <a:srgbClr val="6E6E7A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Sheet1!$A$2:$A$5</c:f>
              <c:multiLvlStrCache>
                <c:ptCount val="4"/>
                <c:lvl>
                  <c:pt idx="0">
                    <c:v>All 3 components</c:v>
                  </c:pt>
                  <c:pt idx="1">
                    <c:v>2 of 3</c:v>
                  </c:pt>
                  <c:pt idx="2">
                    <c:v>1 of 3</c:v>
                  </c:pt>
                  <c:pt idx="3">
                    <c:v>Unscored</c:v>
                  </c:pt>
                </c:lvl>
              </c:multiLvlStrCache>
            </c:multiLvl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8010</c:v>
                </c:pt>
                <c:pt idx="1">
                  <c:v>10843</c:v>
                </c:pt>
                <c:pt idx="2">
                  <c:v>2853</c:v>
                </c:pt>
                <c:pt idx="3">
                  <c:v>12686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0" i="0" strike="noStrike" sz="1000" u="none">
                  <a:solidFill>
                    <a:srgbClr val="6E6E7A"/>
                  </a:solidFill>
                  <a:latin typeface="Arial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l"/>
        <c:numFmt formatCode="General" sourceLinked="1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000" b="0" i="0" u="none" strike="noStrike">
                <a:solidFill>
                  <a:srgbClr val="6E6E7A"/>
                </a:solidFill>
                <a:latin typeface="Calibri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  <c:max val="15000"/>
          <c:min val="0"/>
        </c:scaling>
        <c:delete val="0"/>
        <c:axPos val="b"/>
        <c:majorGridlines>
          <c:spPr>
            <a:ln w="12700" cap="flat">
              <a:solidFill>
                <a:srgbClr val="E4E1EA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900" b="0" i="0" u="none" strike="noStrike">
                <a:solidFill>
                  <a:srgbClr val="6E6E7A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Agenda: where the build stands, the dictionary you asked for, what we resolved ourselves, three asks for you, one bug we found in your export.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Lead with: they can open any of this as a CSV. Nothing requires them to run our stack.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Own the 73 to 64.5 correction out loud rather than letting them notice it.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This directly answers their open question from week 4. The ask is a review pass.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Pre-empt the question rather than being asked it. If a slide says 64.5% and another says 47%, it reads like the match rate collapsed between stages when it actually improved.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Frame as: we did the half we could do alone, and the half that needs them is now 13 named fields someone can answer in one sitting.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Trust-building slide — shows we're not queuing up on them for everything.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Deliver as a heads-up, not a complaint.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The 52.5% is a client-facing risk, not a modeling detail — CRDC access is uncertain given the OCR transition, and half the tier assignments depend on it.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This is the slide to land. Get an owner and a rough date on items 1 and 2 before the meeting ends.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Close by confirming owners and dates for the four right-hand items.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1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331A5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509760" y="-1371600"/>
            <a:ext cx="4754880" cy="4754880"/>
          </a:xfrm>
          <a:prstGeom prst="ellipse">
            <a:avLst/>
          </a:prstGeom>
          <a:solidFill>
            <a:srgbClr val="4E2A84"/>
          </a:solidFill>
          <a:ln/>
        </p:spPr>
      </p:sp>
      <p:sp>
        <p:nvSpPr>
          <p:cNvPr id="3" name="Shape 1"/>
          <p:cNvSpPr/>
          <p:nvPr/>
        </p:nvSpPr>
        <p:spPr>
          <a:xfrm>
            <a:off x="10881360" y="4206240"/>
            <a:ext cx="2377440" cy="2377440"/>
          </a:xfrm>
          <a:prstGeom prst="ellipse">
            <a:avLst/>
          </a:prstGeom>
          <a:solidFill>
            <a:srgbClr val="D9A441"/>
          </a:solidFill>
          <a:ln/>
        </p:spPr>
      </p:sp>
      <p:sp>
        <p:nvSpPr>
          <p:cNvPr id="4" name="Text 2"/>
          <p:cNvSpPr/>
          <p:nvPr/>
        </p:nvSpPr>
        <p:spPr>
          <a:xfrm>
            <a:off x="731520" y="178308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spc="300" kern="0" dirty="0">
                <a:solidFill>
                  <a:srgbClr val="D9A4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MSDS 498 CAPSTONE</a:t>
            </a:r>
            <a:endParaRPr lang="en-US" sz="1400" dirty="0"/>
          </a:p>
        </p:txBody>
      </p:sp>
      <p:sp>
        <p:nvSpPr>
          <p:cNvPr id="5" name="Text 3"/>
          <p:cNvSpPr/>
          <p:nvPr/>
        </p:nvSpPr>
        <p:spPr>
          <a:xfrm>
            <a:off x="731520" y="2240280"/>
            <a:ext cx="859536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Client Check-In: Week 5</a:t>
            </a:r>
            <a:endParaRPr lang="en-US" sz="4200" dirty="0"/>
          </a:p>
        </p:txBody>
      </p:sp>
      <p:sp>
        <p:nvSpPr>
          <p:cNvPr id="6" name="Text 4"/>
          <p:cNvSpPr/>
          <p:nvPr/>
        </p:nvSpPr>
        <p:spPr>
          <a:xfrm>
            <a:off x="731520" y="3200400"/>
            <a:ext cx="84124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E7E0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data dictionary is ready for your review — plus three decisions we need from you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731520" y="580644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9C93A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Prepared for Bob &amp; Adam   |   Week of July 20, 2026</a:t>
            </a:r>
            <a:endParaRPr lang="en-US" sz="1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110642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2B2B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Where the build stands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548640" y="1005840"/>
            <a:ext cx="11064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i="1" dirty="0">
                <a:solidFill>
                  <a:srgbClr val="6E6E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frozen, versioned dataset — everything downstream runs off it</a:t>
            </a:r>
            <a:endParaRPr lang="en-US" sz="1350" dirty="0"/>
          </a:p>
        </p:txBody>
      </p:sp>
      <p:sp>
        <p:nvSpPr>
          <p:cNvPr id="4" name="Shape 2"/>
          <p:cNvSpPr/>
          <p:nvPr/>
        </p:nvSpPr>
        <p:spPr>
          <a:xfrm>
            <a:off x="548640" y="1645920"/>
            <a:ext cx="2606040" cy="1691640"/>
          </a:xfrm>
          <a:prstGeom prst="roundRect">
            <a:avLst>
              <a:gd name="adj" fmla="val 4324"/>
            </a:avLst>
          </a:prstGeom>
          <a:solidFill>
            <a:srgbClr val="F6F4F9"/>
          </a:solidFill>
          <a:ln w="12700">
            <a:solidFill>
              <a:srgbClr val="F6F4F9"/>
            </a:solidFill>
            <a:prstDash val="solid"/>
          </a:ln>
          <a:effectLst>
            <a:outerShdw sx="100000" sy="100000" kx="0" ky="0" algn="bl" rotWithShape="0" blurRad="76200" dist="508" dir="5400000">
              <a:srgbClr val="999999">
                <a:alpha val="10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548640" y="1810512"/>
            <a:ext cx="26060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4E2A8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34,392</a:t>
            </a:r>
            <a:endParaRPr lang="en-US" sz="3600" dirty="0"/>
          </a:p>
        </p:txBody>
      </p:sp>
      <p:sp>
        <p:nvSpPr>
          <p:cNvPr id="6" name="Text 4"/>
          <p:cNvSpPr/>
          <p:nvPr/>
        </p:nvSpPr>
        <p:spPr>
          <a:xfrm>
            <a:off x="685800" y="2560320"/>
            <a:ext cx="23317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dirty="0">
                <a:solidFill>
                  <a:srgbClr val="6E6E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high schools in the frozen</a:t>
            </a:r>
            <a:endParaRPr lang="en-US" sz="1150" dirty="0"/>
          </a:p>
          <a:p>
            <a:pPr algn="ctr" indent="0" marL="0">
              <a:buNone/>
            </a:pPr>
            <a:r>
              <a:rPr lang="en-US" sz="1150" dirty="0">
                <a:solidFill>
                  <a:srgbClr val="6E6E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modeling dataset (v1)</a:t>
            </a:r>
            <a:endParaRPr lang="en-US" sz="1150" dirty="0"/>
          </a:p>
        </p:txBody>
      </p:sp>
      <p:sp>
        <p:nvSpPr>
          <p:cNvPr id="7" name="Shape 5"/>
          <p:cNvSpPr/>
          <p:nvPr/>
        </p:nvSpPr>
        <p:spPr>
          <a:xfrm>
            <a:off x="3401568" y="1645920"/>
            <a:ext cx="2606040" cy="1691640"/>
          </a:xfrm>
          <a:prstGeom prst="roundRect">
            <a:avLst>
              <a:gd name="adj" fmla="val 4324"/>
            </a:avLst>
          </a:prstGeom>
          <a:solidFill>
            <a:srgbClr val="F6F4F9"/>
          </a:solidFill>
          <a:ln w="12700">
            <a:solidFill>
              <a:srgbClr val="F6F4F9"/>
            </a:solidFill>
            <a:prstDash val="solid"/>
          </a:ln>
          <a:effectLst>
            <a:outerShdw sx="100000" sy="100000" kx="0" ky="0" algn="bl" rotWithShape="0" blurRad="76200" dist="508" dir="5400000">
              <a:srgbClr val="999999">
                <a:alpha val="10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3401568" y="1810512"/>
            <a:ext cx="26060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4E2A8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57</a:t>
            </a:r>
            <a:endParaRPr lang="en-US" sz="3600" dirty="0"/>
          </a:p>
        </p:txBody>
      </p:sp>
      <p:sp>
        <p:nvSpPr>
          <p:cNvPr id="9" name="Text 7"/>
          <p:cNvSpPr/>
          <p:nvPr/>
        </p:nvSpPr>
        <p:spPr>
          <a:xfrm>
            <a:off x="3538728" y="2560320"/>
            <a:ext cx="23317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dirty="0">
                <a:solidFill>
                  <a:srgbClr val="6E6E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variables, every one</a:t>
            </a:r>
            <a:endParaRPr lang="en-US" sz="1150" dirty="0"/>
          </a:p>
          <a:p>
            <a:pPr algn="ctr" indent="0" marL="0">
              <a:buNone/>
            </a:pPr>
            <a:r>
              <a:rPr lang="en-US" sz="1150" dirty="0">
                <a:solidFill>
                  <a:srgbClr val="6E6E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documented</a:t>
            </a:r>
            <a:endParaRPr lang="en-US" sz="1150" dirty="0"/>
          </a:p>
        </p:txBody>
      </p:sp>
      <p:sp>
        <p:nvSpPr>
          <p:cNvPr id="10" name="Shape 8"/>
          <p:cNvSpPr/>
          <p:nvPr/>
        </p:nvSpPr>
        <p:spPr>
          <a:xfrm>
            <a:off x="6254496" y="1645920"/>
            <a:ext cx="2606040" cy="1691640"/>
          </a:xfrm>
          <a:prstGeom prst="roundRect">
            <a:avLst>
              <a:gd name="adj" fmla="val 4324"/>
            </a:avLst>
          </a:prstGeom>
          <a:solidFill>
            <a:srgbClr val="F6F4F9"/>
          </a:solidFill>
          <a:ln w="12700">
            <a:solidFill>
              <a:srgbClr val="F6F4F9"/>
            </a:solidFill>
            <a:prstDash val="solid"/>
          </a:ln>
          <a:effectLst>
            <a:outerShdw sx="100000" sy="100000" kx="0" ky="0" algn="bl" rotWithShape="0" blurRad="76200" dist="508" dir="5400000">
              <a:srgbClr val="999999">
                <a:alpha val="10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6254496" y="1810512"/>
            <a:ext cx="26060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4E2A8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61</a:t>
            </a:r>
            <a:endParaRPr lang="en-US" sz="3600" dirty="0"/>
          </a:p>
        </p:txBody>
      </p:sp>
      <p:sp>
        <p:nvSpPr>
          <p:cNvPr id="12" name="Text 10"/>
          <p:cNvSpPr/>
          <p:nvPr/>
        </p:nvSpPr>
        <p:spPr>
          <a:xfrm>
            <a:off x="6391656" y="2560320"/>
            <a:ext cx="23317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dirty="0">
                <a:solidFill>
                  <a:srgbClr val="6E6E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tables in the database,</a:t>
            </a:r>
            <a:endParaRPr lang="en-US" sz="1150" dirty="0"/>
          </a:p>
          <a:p>
            <a:pPr algn="ctr" indent="0" marL="0">
              <a:buNone/>
            </a:pPr>
            <a:r>
              <a:rPr lang="en-US" sz="1150" dirty="0">
                <a:solidFill>
                  <a:srgbClr val="6E6E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rebuilt end to end</a:t>
            </a:r>
            <a:endParaRPr lang="en-US" sz="1150" dirty="0"/>
          </a:p>
        </p:txBody>
      </p:sp>
      <p:sp>
        <p:nvSpPr>
          <p:cNvPr id="13" name="Shape 11"/>
          <p:cNvSpPr/>
          <p:nvPr/>
        </p:nvSpPr>
        <p:spPr>
          <a:xfrm>
            <a:off x="9107424" y="1645920"/>
            <a:ext cx="2606040" cy="1691640"/>
          </a:xfrm>
          <a:prstGeom prst="roundRect">
            <a:avLst>
              <a:gd name="adj" fmla="val 4324"/>
            </a:avLst>
          </a:prstGeom>
          <a:solidFill>
            <a:srgbClr val="F6F4F9"/>
          </a:solidFill>
          <a:ln w="12700">
            <a:solidFill>
              <a:srgbClr val="F6F4F9"/>
            </a:solidFill>
            <a:prstDash val="solid"/>
          </a:ln>
          <a:effectLst>
            <a:outerShdw sx="100000" sy="100000" kx="0" ky="0" algn="bl" rotWithShape="0" blurRad="76200" dist="508" dir="5400000">
              <a:srgbClr val="999999">
                <a:alpha val="10000"/>
              </a:srgbClr>
            </a:outerShdw>
          </a:effectLst>
        </p:spPr>
      </p:sp>
      <p:sp>
        <p:nvSpPr>
          <p:cNvPr id="14" name="Text 12"/>
          <p:cNvSpPr/>
          <p:nvPr/>
        </p:nvSpPr>
        <p:spPr>
          <a:xfrm>
            <a:off x="9107424" y="1810512"/>
            <a:ext cx="26060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D9A44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72 / 0</a:t>
            </a:r>
            <a:endParaRPr lang="en-US" sz="3600" dirty="0"/>
          </a:p>
        </p:txBody>
      </p:sp>
      <p:sp>
        <p:nvSpPr>
          <p:cNvPr id="15" name="Text 13"/>
          <p:cNvSpPr/>
          <p:nvPr/>
        </p:nvSpPr>
        <p:spPr>
          <a:xfrm>
            <a:off x="9244584" y="2560320"/>
            <a:ext cx="23317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dirty="0">
                <a:solidFill>
                  <a:srgbClr val="6E6E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tests passing / skipped</a:t>
            </a:r>
            <a:endParaRPr lang="en-US" sz="1150" dirty="0"/>
          </a:p>
        </p:txBody>
      </p:sp>
      <p:sp>
        <p:nvSpPr>
          <p:cNvPr id="16" name="Text 14"/>
          <p:cNvSpPr/>
          <p:nvPr/>
        </p:nvSpPr>
        <p:spPr>
          <a:xfrm>
            <a:off x="548640" y="3657600"/>
            <a:ext cx="5486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2B2B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pipeline, end to end</a:t>
            </a:r>
            <a:endParaRPr lang="en-US" sz="1500" dirty="0"/>
          </a:p>
        </p:txBody>
      </p:sp>
      <p:sp>
        <p:nvSpPr>
          <p:cNvPr id="17" name="Shape 15"/>
          <p:cNvSpPr/>
          <p:nvPr/>
        </p:nvSpPr>
        <p:spPr>
          <a:xfrm>
            <a:off x="548640" y="4078224"/>
            <a:ext cx="384048" cy="384048"/>
          </a:xfrm>
          <a:prstGeom prst="ellipse">
            <a:avLst/>
          </a:prstGeom>
          <a:solidFill>
            <a:srgbClr val="4E2A84"/>
          </a:solidFill>
          <a:ln/>
        </p:spPr>
      </p:sp>
      <p:sp>
        <p:nvSpPr>
          <p:cNvPr id="18" name="Text 16"/>
          <p:cNvSpPr/>
          <p:nvPr/>
        </p:nvSpPr>
        <p:spPr>
          <a:xfrm>
            <a:off x="548640" y="4078224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1051560" y="4069080"/>
            <a:ext cx="21031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4E2A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Raw</a:t>
            </a:r>
            <a:endParaRPr lang="en-US" sz="1400" dirty="0"/>
          </a:p>
        </p:txBody>
      </p:sp>
      <p:sp>
        <p:nvSpPr>
          <p:cNvPr id="20" name="Text 18"/>
          <p:cNvSpPr/>
          <p:nvPr/>
        </p:nvSpPr>
        <p:spPr>
          <a:xfrm>
            <a:off x="566928" y="4544568"/>
            <a:ext cx="265176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6E6E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table per source — NCES, Census,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6E6E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NAEP, ISBE, IB, CPS, College Board, CRDC</a:t>
            </a:r>
            <a:endParaRPr lang="en-US" sz="1050" dirty="0"/>
          </a:p>
        </p:txBody>
      </p:sp>
      <p:sp>
        <p:nvSpPr>
          <p:cNvPr id="21" name="Shape 19"/>
          <p:cNvSpPr/>
          <p:nvPr/>
        </p:nvSpPr>
        <p:spPr>
          <a:xfrm>
            <a:off x="3401568" y="4078224"/>
            <a:ext cx="384048" cy="384048"/>
          </a:xfrm>
          <a:prstGeom prst="ellipse">
            <a:avLst/>
          </a:prstGeom>
          <a:solidFill>
            <a:srgbClr val="4E2A84"/>
          </a:solidFill>
          <a:ln/>
        </p:spPr>
      </p:sp>
      <p:sp>
        <p:nvSpPr>
          <p:cNvPr id="22" name="Text 20"/>
          <p:cNvSpPr/>
          <p:nvPr/>
        </p:nvSpPr>
        <p:spPr>
          <a:xfrm>
            <a:off x="3401568" y="4078224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200" dirty="0"/>
          </a:p>
        </p:txBody>
      </p:sp>
      <p:sp>
        <p:nvSpPr>
          <p:cNvPr id="23" name="Text 21"/>
          <p:cNvSpPr/>
          <p:nvPr/>
        </p:nvSpPr>
        <p:spPr>
          <a:xfrm>
            <a:off x="3904488" y="4069080"/>
            <a:ext cx="21031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4E2A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Clean</a:t>
            </a:r>
            <a:endParaRPr lang="en-US" sz="1400" dirty="0"/>
          </a:p>
        </p:txBody>
      </p:sp>
      <p:sp>
        <p:nvSpPr>
          <p:cNvPr id="24" name="Text 22"/>
          <p:cNvSpPr/>
          <p:nvPr/>
        </p:nvSpPr>
        <p:spPr>
          <a:xfrm>
            <a:off x="3419856" y="4544568"/>
            <a:ext cx="265176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6E6E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typed casts, suppression codes nulled</a:t>
            </a:r>
            <a:endParaRPr lang="en-US" sz="1050" dirty="0"/>
          </a:p>
        </p:txBody>
      </p:sp>
      <p:sp>
        <p:nvSpPr>
          <p:cNvPr id="25" name="Shape 23"/>
          <p:cNvSpPr/>
          <p:nvPr/>
        </p:nvSpPr>
        <p:spPr>
          <a:xfrm>
            <a:off x="6254496" y="4078224"/>
            <a:ext cx="384048" cy="384048"/>
          </a:xfrm>
          <a:prstGeom prst="ellipse">
            <a:avLst/>
          </a:prstGeom>
          <a:solidFill>
            <a:srgbClr val="4E2A84"/>
          </a:solidFill>
          <a:ln/>
        </p:spPr>
      </p:sp>
      <p:sp>
        <p:nvSpPr>
          <p:cNvPr id="26" name="Text 24"/>
          <p:cNvSpPr/>
          <p:nvPr/>
        </p:nvSpPr>
        <p:spPr>
          <a:xfrm>
            <a:off x="6254496" y="4078224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200" dirty="0"/>
          </a:p>
        </p:txBody>
      </p:sp>
      <p:sp>
        <p:nvSpPr>
          <p:cNvPr id="27" name="Text 25"/>
          <p:cNvSpPr/>
          <p:nvPr/>
        </p:nvSpPr>
        <p:spPr>
          <a:xfrm>
            <a:off x="6757416" y="4069080"/>
            <a:ext cx="21031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4E2A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Combined</a:t>
            </a:r>
            <a:endParaRPr lang="en-US" sz="1400" dirty="0"/>
          </a:p>
        </p:txBody>
      </p:sp>
      <p:sp>
        <p:nvSpPr>
          <p:cNvPr id="28" name="Text 26"/>
          <p:cNvSpPr/>
          <p:nvPr/>
        </p:nvSpPr>
        <p:spPr>
          <a:xfrm>
            <a:off x="6272784" y="4544568"/>
            <a:ext cx="265176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6E6E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school-level backbone + CEEB crosswalks</a:t>
            </a:r>
            <a:endParaRPr lang="en-US" sz="1050" dirty="0"/>
          </a:p>
        </p:txBody>
      </p:sp>
      <p:sp>
        <p:nvSpPr>
          <p:cNvPr id="29" name="Shape 27"/>
          <p:cNvSpPr/>
          <p:nvPr/>
        </p:nvSpPr>
        <p:spPr>
          <a:xfrm>
            <a:off x="9107424" y="4078224"/>
            <a:ext cx="384048" cy="384048"/>
          </a:xfrm>
          <a:prstGeom prst="ellipse">
            <a:avLst/>
          </a:prstGeom>
          <a:solidFill>
            <a:srgbClr val="4E2A84"/>
          </a:solidFill>
          <a:ln/>
        </p:spPr>
      </p:sp>
      <p:sp>
        <p:nvSpPr>
          <p:cNvPr id="30" name="Text 28"/>
          <p:cNvSpPr/>
          <p:nvPr/>
        </p:nvSpPr>
        <p:spPr>
          <a:xfrm>
            <a:off x="9107424" y="4078224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200" dirty="0"/>
          </a:p>
        </p:txBody>
      </p:sp>
      <p:sp>
        <p:nvSpPr>
          <p:cNvPr id="31" name="Text 29"/>
          <p:cNvSpPr/>
          <p:nvPr/>
        </p:nvSpPr>
        <p:spPr>
          <a:xfrm>
            <a:off x="9610344" y="4069080"/>
            <a:ext cx="21031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4E2A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Modeled</a:t>
            </a:r>
            <a:endParaRPr lang="en-US" sz="1400" dirty="0"/>
          </a:p>
        </p:txBody>
      </p:sp>
      <p:sp>
        <p:nvSpPr>
          <p:cNvPr id="32" name="Text 30"/>
          <p:cNvSpPr/>
          <p:nvPr/>
        </p:nvSpPr>
        <p:spPr>
          <a:xfrm>
            <a:off x="9125712" y="4544568"/>
            <a:ext cx="265176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6E6E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features → rigor tiers → clustering,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6E6E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now queryable in the database</a:t>
            </a:r>
            <a:endParaRPr lang="en-US" sz="1050" dirty="0"/>
          </a:p>
        </p:txBody>
      </p:sp>
      <p:sp>
        <p:nvSpPr>
          <p:cNvPr id="33" name="Text 31"/>
          <p:cNvSpPr/>
          <p:nvPr/>
        </p:nvSpPr>
        <p:spPr>
          <a:xfrm>
            <a:off x="548640" y="5669280"/>
            <a:ext cx="110642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6E6E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Don't want to run any of it? Every table is also exported to CSV — open the files directly.</a:t>
            </a:r>
            <a:endParaRPr lang="en-US" sz="12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110642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2B2B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Shipped since we last met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548640" y="1005840"/>
            <a:ext cx="11064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i="1" dirty="0">
                <a:solidFill>
                  <a:srgbClr val="6E6E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Three bug fixes, one gap closed, and the whole pipeline verified from scratch</a:t>
            </a:r>
            <a:endParaRPr lang="en-US" sz="1350" dirty="0"/>
          </a:p>
        </p:txBody>
      </p:sp>
      <p:sp>
        <p:nvSpPr>
          <p:cNvPr id="4" name="Shape 2"/>
          <p:cNvSpPr/>
          <p:nvPr/>
        </p:nvSpPr>
        <p:spPr>
          <a:xfrm>
            <a:off x="548640" y="1572768"/>
            <a:ext cx="11064240" cy="932688"/>
          </a:xfrm>
          <a:prstGeom prst="roundRect">
            <a:avLst>
              <a:gd name="adj" fmla="val 7843"/>
            </a:avLst>
          </a:prstGeom>
          <a:solidFill>
            <a:srgbClr val="F6F4F9"/>
          </a:solidFill>
          <a:ln w="12700">
            <a:solidFill>
              <a:srgbClr val="F6F4F9"/>
            </a:solidFill>
            <a:prstDash val="solid"/>
          </a:ln>
          <a:effectLst>
            <a:outerShdw sx="100000" sy="100000" kx="0" ky="0" algn="bl" rotWithShape="0" blurRad="76200" dist="508" dir="5400000">
              <a:srgbClr val="999999">
                <a:alpha val="10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777240" y="1837944"/>
            <a:ext cx="402336" cy="402336"/>
          </a:xfrm>
          <a:prstGeom prst="ellipse">
            <a:avLst/>
          </a:prstGeom>
          <a:solidFill>
            <a:srgbClr val="D9A441"/>
          </a:solidFill>
          <a:ln/>
        </p:spPr>
      </p:sp>
      <p:sp>
        <p:nvSpPr>
          <p:cNvPr id="6" name="Text 4"/>
          <p:cNvSpPr/>
          <p:nvPr/>
        </p:nvSpPr>
        <p:spPr>
          <a:xfrm>
            <a:off x="777240" y="1837944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500" dirty="0"/>
          </a:p>
        </p:txBody>
      </p:sp>
      <p:sp>
        <p:nvSpPr>
          <p:cNvPr id="7" name="Text 5"/>
          <p:cNvSpPr/>
          <p:nvPr/>
        </p:nvSpPr>
        <p:spPr>
          <a:xfrm>
            <a:off x="1353312" y="1691640"/>
            <a:ext cx="54864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2B2B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Fixed a CEEB fan-out bug</a:t>
            </a:r>
            <a:endParaRPr lang="en-US" sz="1500" dirty="0"/>
          </a:p>
        </p:txBody>
      </p:sp>
      <p:sp>
        <p:nvSpPr>
          <p:cNvPr id="8" name="Text 6"/>
          <p:cNvSpPr/>
          <p:nvPr/>
        </p:nvSpPr>
        <p:spPr>
          <a:xfrm>
            <a:off x="1353312" y="2011680"/>
            <a:ext cx="996696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E6E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Match rate corrected 73% → 64.5%. The old 73% included ~2,072 false matches. We reported the higher number to you before we found it.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548640" y="2670048"/>
            <a:ext cx="11064240" cy="932688"/>
          </a:xfrm>
          <a:prstGeom prst="roundRect">
            <a:avLst>
              <a:gd name="adj" fmla="val 7843"/>
            </a:avLst>
          </a:prstGeom>
          <a:solidFill>
            <a:srgbClr val="F6F4F9"/>
          </a:solidFill>
          <a:ln w="12700">
            <a:solidFill>
              <a:srgbClr val="F6F4F9"/>
            </a:solidFill>
            <a:prstDash val="solid"/>
          </a:ln>
          <a:effectLst>
            <a:outerShdw sx="100000" sy="100000" kx="0" ky="0" algn="bl" rotWithShape="0" blurRad="76200" dist="508" dir="5400000">
              <a:srgbClr val="999999">
                <a:alpha val="10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777240" y="2935224"/>
            <a:ext cx="402336" cy="402336"/>
          </a:xfrm>
          <a:prstGeom prst="ellipse">
            <a:avLst/>
          </a:prstGeom>
          <a:solidFill>
            <a:srgbClr val="4E2A84"/>
          </a:solidFill>
          <a:ln/>
        </p:spPr>
      </p:sp>
      <p:sp>
        <p:nvSpPr>
          <p:cNvPr id="11" name="Text 9"/>
          <p:cNvSpPr/>
          <p:nvPr/>
        </p:nvSpPr>
        <p:spPr>
          <a:xfrm>
            <a:off x="777240" y="2935224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500" dirty="0"/>
          </a:p>
        </p:txBody>
      </p:sp>
      <p:sp>
        <p:nvSpPr>
          <p:cNvPr id="12" name="Text 10"/>
          <p:cNvSpPr/>
          <p:nvPr/>
        </p:nvSpPr>
        <p:spPr>
          <a:xfrm>
            <a:off x="1353312" y="2788920"/>
            <a:ext cx="54864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2B2B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Fixed the district-ID and sector bugs</a:t>
            </a:r>
            <a:endParaRPr lang="en-US" sz="1500" dirty="0"/>
          </a:p>
        </p:txBody>
      </p:sp>
      <p:sp>
        <p:nvSpPr>
          <p:cNvPr id="13" name="Text 11"/>
          <p:cNvSpPr/>
          <p:nvPr/>
        </p:nvSpPr>
        <p:spPr>
          <a:xfrm>
            <a:off x="1353312" y="3108960"/>
            <a:ext cx="996696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E6E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first was blocking per-student funding (Goal 4) entirely; the second was silently hiding IB flags.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548640" y="3767328"/>
            <a:ext cx="11064240" cy="932688"/>
          </a:xfrm>
          <a:prstGeom prst="roundRect">
            <a:avLst>
              <a:gd name="adj" fmla="val 7843"/>
            </a:avLst>
          </a:prstGeom>
          <a:solidFill>
            <a:srgbClr val="F6F4F9"/>
          </a:solidFill>
          <a:ln w="12700">
            <a:solidFill>
              <a:srgbClr val="F6F4F9"/>
            </a:solidFill>
            <a:prstDash val="solid"/>
          </a:ln>
          <a:effectLst>
            <a:outerShdw sx="100000" sy="100000" kx="0" ky="0" algn="bl" rotWithShape="0" blurRad="76200" dist="508" dir="5400000">
              <a:srgbClr val="999999">
                <a:alpha val="10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777240" y="4032504"/>
            <a:ext cx="402336" cy="402336"/>
          </a:xfrm>
          <a:prstGeom prst="ellipse">
            <a:avLst/>
          </a:prstGeom>
          <a:solidFill>
            <a:srgbClr val="4E2A84"/>
          </a:solidFill>
          <a:ln/>
        </p:spPr>
      </p:sp>
      <p:sp>
        <p:nvSpPr>
          <p:cNvPr id="16" name="Text 14"/>
          <p:cNvSpPr/>
          <p:nvPr/>
        </p:nvSpPr>
        <p:spPr>
          <a:xfrm>
            <a:off x="777240" y="4032504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500" dirty="0"/>
          </a:p>
        </p:txBody>
      </p:sp>
      <p:sp>
        <p:nvSpPr>
          <p:cNvPr id="17" name="Text 15"/>
          <p:cNvSpPr/>
          <p:nvPr/>
        </p:nvSpPr>
        <p:spPr>
          <a:xfrm>
            <a:off x="1353312" y="3886200"/>
            <a:ext cx="54864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2B2B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Made the modeling dataset queryable</a:t>
            </a:r>
            <a:endParaRPr lang="en-US" sz="1500" dirty="0"/>
          </a:p>
        </p:txBody>
      </p:sp>
      <p:sp>
        <p:nvSpPr>
          <p:cNvPr id="18" name="Text 16"/>
          <p:cNvSpPr/>
          <p:nvPr/>
        </p:nvSpPr>
        <p:spPr>
          <a:xfrm>
            <a:off x="1353312" y="4206240"/>
            <a:ext cx="996696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E6E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It previously existed only as a file — the database stopped one step short of it. Now loaded as database tables alongside everything else.</a:t>
            </a:r>
            <a:endParaRPr lang="en-US" sz="1200" dirty="0"/>
          </a:p>
        </p:txBody>
      </p:sp>
      <p:sp>
        <p:nvSpPr>
          <p:cNvPr id="19" name="Shape 17"/>
          <p:cNvSpPr/>
          <p:nvPr/>
        </p:nvSpPr>
        <p:spPr>
          <a:xfrm>
            <a:off x="548640" y="4864608"/>
            <a:ext cx="11064240" cy="932688"/>
          </a:xfrm>
          <a:prstGeom prst="roundRect">
            <a:avLst>
              <a:gd name="adj" fmla="val 7843"/>
            </a:avLst>
          </a:prstGeom>
          <a:solidFill>
            <a:srgbClr val="F6F4F9"/>
          </a:solidFill>
          <a:ln w="12700">
            <a:solidFill>
              <a:srgbClr val="F6F4F9"/>
            </a:solidFill>
            <a:prstDash val="solid"/>
          </a:ln>
          <a:effectLst>
            <a:outerShdw sx="100000" sy="100000" kx="0" ky="0" algn="bl" rotWithShape="0" blurRad="76200" dist="508" dir="5400000">
              <a:srgbClr val="999999">
                <a:alpha val="10000"/>
              </a:srgbClr>
            </a:outerShdw>
          </a:effectLst>
        </p:spPr>
      </p:sp>
      <p:sp>
        <p:nvSpPr>
          <p:cNvPr id="20" name="Shape 18"/>
          <p:cNvSpPr/>
          <p:nvPr/>
        </p:nvSpPr>
        <p:spPr>
          <a:xfrm>
            <a:off x="777240" y="5129784"/>
            <a:ext cx="402336" cy="402336"/>
          </a:xfrm>
          <a:prstGeom prst="ellipse">
            <a:avLst/>
          </a:prstGeom>
          <a:solidFill>
            <a:srgbClr val="4E2A84"/>
          </a:solidFill>
          <a:ln/>
        </p:spPr>
      </p:sp>
      <p:sp>
        <p:nvSpPr>
          <p:cNvPr id="21" name="Text 19"/>
          <p:cNvSpPr/>
          <p:nvPr/>
        </p:nvSpPr>
        <p:spPr>
          <a:xfrm>
            <a:off x="777240" y="5129784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500" dirty="0"/>
          </a:p>
        </p:txBody>
      </p:sp>
      <p:sp>
        <p:nvSpPr>
          <p:cNvPr id="22" name="Text 20"/>
          <p:cNvSpPr/>
          <p:nvPr/>
        </p:nvSpPr>
        <p:spPr>
          <a:xfrm>
            <a:off x="1353312" y="4983480"/>
            <a:ext cx="54864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2B2B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Verified the rebuild end to end</a:t>
            </a:r>
            <a:endParaRPr lang="en-US" sz="1500" dirty="0"/>
          </a:p>
        </p:txBody>
      </p:sp>
      <p:sp>
        <p:nvSpPr>
          <p:cNvPr id="23" name="Text 21"/>
          <p:cNvSpPr/>
          <p:nvPr/>
        </p:nvSpPr>
        <p:spPr>
          <a:xfrm>
            <a:off x="1353312" y="5303520"/>
            <a:ext cx="996696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E6E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Full pipeline run from raw sources: all six stages complete, 61 tables, every test passing with none skipped.</a:t>
            </a:r>
            <a:endParaRPr lang="en-US" sz="12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331A5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0607040" y="-1097280"/>
            <a:ext cx="3657600" cy="3657600"/>
          </a:xfrm>
          <a:prstGeom prst="ellipse">
            <a:avLst/>
          </a:prstGeom>
          <a:solidFill>
            <a:srgbClr val="4E2A84"/>
          </a:solidFill>
          <a:ln/>
        </p:spPr>
      </p:sp>
      <p:sp>
        <p:nvSpPr>
          <p:cNvPr id="3" name="Text 1"/>
          <p:cNvSpPr/>
          <p:nvPr/>
        </p:nvSpPr>
        <p:spPr>
          <a:xfrm>
            <a:off x="640080" y="566928"/>
            <a:ext cx="96926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i="1" dirty="0">
                <a:solidFill>
                  <a:srgbClr val="B9AF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"A data dictionary of all their variables — do we have this?"</a:t>
            </a:r>
            <a:endParaRPr lang="en-US" sz="1500" dirty="0"/>
          </a:p>
        </p:txBody>
      </p:sp>
      <p:sp>
        <p:nvSpPr>
          <p:cNvPr id="4" name="Text 2"/>
          <p:cNvSpPr/>
          <p:nvPr/>
        </p:nvSpPr>
        <p:spPr>
          <a:xfrm>
            <a:off x="640080" y="1051560"/>
            <a:ext cx="100584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Yes. It's ready for you and Adam now.</a:t>
            </a:r>
            <a:endParaRPr lang="en-US" sz="3400" dirty="0"/>
          </a:p>
        </p:txBody>
      </p:sp>
      <p:sp>
        <p:nvSpPr>
          <p:cNvPr id="5" name="Shape 3"/>
          <p:cNvSpPr/>
          <p:nvPr/>
        </p:nvSpPr>
        <p:spPr>
          <a:xfrm>
            <a:off x="640080" y="2103120"/>
            <a:ext cx="3429000" cy="1783080"/>
          </a:xfrm>
          <a:prstGeom prst="roundRect">
            <a:avLst>
              <a:gd name="adj" fmla="val 4103"/>
            </a:avLst>
          </a:prstGeom>
          <a:solidFill>
            <a:srgbClr val="43276F"/>
          </a:solidFill>
          <a:ln w="12700">
            <a:solidFill>
              <a:srgbClr val="43276F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868680" y="2267712"/>
            <a:ext cx="30175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raw joined table</a:t>
            </a:r>
            <a:endParaRPr lang="en-US" sz="1350" dirty="0"/>
          </a:p>
        </p:txBody>
      </p:sp>
      <p:sp>
        <p:nvSpPr>
          <p:cNvPr id="7" name="Text 5"/>
          <p:cNvSpPr/>
          <p:nvPr/>
        </p:nvSpPr>
        <p:spPr>
          <a:xfrm>
            <a:off x="868680" y="2606040"/>
            <a:ext cx="30175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D9A44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127</a:t>
            </a:r>
            <a:endParaRPr lang="en-US" sz="3200" dirty="0"/>
          </a:p>
        </p:txBody>
      </p:sp>
      <p:sp>
        <p:nvSpPr>
          <p:cNvPr id="8" name="Text 6"/>
          <p:cNvSpPr/>
          <p:nvPr/>
        </p:nvSpPr>
        <p:spPr>
          <a:xfrm>
            <a:off x="868680" y="3218688"/>
            <a:ext cx="30175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C6BB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variables</a:t>
            </a:r>
            <a:endParaRPr lang="en-US" sz="1150" dirty="0"/>
          </a:p>
        </p:txBody>
      </p:sp>
      <p:sp>
        <p:nvSpPr>
          <p:cNvPr id="9" name="Shape 7"/>
          <p:cNvSpPr/>
          <p:nvPr/>
        </p:nvSpPr>
        <p:spPr>
          <a:xfrm>
            <a:off x="4343400" y="2103120"/>
            <a:ext cx="3429000" cy="1783080"/>
          </a:xfrm>
          <a:prstGeom prst="roundRect">
            <a:avLst>
              <a:gd name="adj" fmla="val 4103"/>
            </a:avLst>
          </a:prstGeom>
          <a:solidFill>
            <a:srgbClr val="43276F"/>
          </a:solidFill>
          <a:ln w="12700">
            <a:solidFill>
              <a:srgbClr val="43276F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4572000" y="2267712"/>
            <a:ext cx="30175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modeling feature set</a:t>
            </a:r>
            <a:endParaRPr lang="en-US" sz="1350" dirty="0"/>
          </a:p>
        </p:txBody>
      </p:sp>
      <p:sp>
        <p:nvSpPr>
          <p:cNvPr id="11" name="Text 9"/>
          <p:cNvSpPr/>
          <p:nvPr/>
        </p:nvSpPr>
        <p:spPr>
          <a:xfrm>
            <a:off x="4572000" y="2606040"/>
            <a:ext cx="30175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D9A44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57</a:t>
            </a:r>
            <a:endParaRPr lang="en-US" sz="3200" dirty="0"/>
          </a:p>
        </p:txBody>
      </p:sp>
      <p:sp>
        <p:nvSpPr>
          <p:cNvPr id="12" name="Text 10"/>
          <p:cNvSpPr/>
          <p:nvPr/>
        </p:nvSpPr>
        <p:spPr>
          <a:xfrm>
            <a:off x="4572000" y="3218688"/>
            <a:ext cx="30175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C6BB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variables — every column covered</a:t>
            </a:r>
            <a:endParaRPr lang="en-US" sz="1150" dirty="0"/>
          </a:p>
        </p:txBody>
      </p:sp>
      <p:sp>
        <p:nvSpPr>
          <p:cNvPr id="13" name="Shape 11"/>
          <p:cNvSpPr/>
          <p:nvPr/>
        </p:nvSpPr>
        <p:spPr>
          <a:xfrm>
            <a:off x="8046720" y="2103120"/>
            <a:ext cx="3429000" cy="1783080"/>
          </a:xfrm>
          <a:prstGeom prst="roundRect">
            <a:avLst>
              <a:gd name="adj" fmla="val 4103"/>
            </a:avLst>
          </a:prstGeom>
          <a:solidFill>
            <a:srgbClr val="43276F"/>
          </a:solidFill>
          <a:ln w="12700">
            <a:solidFill>
              <a:srgbClr val="43276F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8275320" y="2267712"/>
            <a:ext cx="30175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dataset itself</a:t>
            </a:r>
            <a:endParaRPr lang="en-US" sz="1350" dirty="0"/>
          </a:p>
        </p:txBody>
      </p:sp>
      <p:sp>
        <p:nvSpPr>
          <p:cNvPr id="15" name="Text 13"/>
          <p:cNvSpPr/>
          <p:nvPr/>
        </p:nvSpPr>
        <p:spPr>
          <a:xfrm>
            <a:off x="8275320" y="2606040"/>
            <a:ext cx="30175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D9A44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34,392</a:t>
            </a:r>
            <a:endParaRPr lang="en-US" sz="3200" dirty="0"/>
          </a:p>
        </p:txBody>
      </p:sp>
      <p:sp>
        <p:nvSpPr>
          <p:cNvPr id="16" name="Text 14"/>
          <p:cNvSpPr/>
          <p:nvPr/>
        </p:nvSpPr>
        <p:spPr>
          <a:xfrm>
            <a:off x="8275320" y="3218688"/>
            <a:ext cx="30175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C6BB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rows, frozen and versioned</a:t>
            </a:r>
            <a:endParaRPr lang="en-US" sz="1150" dirty="0"/>
          </a:p>
        </p:txBody>
      </p:sp>
      <p:sp>
        <p:nvSpPr>
          <p:cNvPr id="17" name="Text 15"/>
          <p:cNvSpPr/>
          <p:nvPr/>
        </p:nvSpPr>
        <p:spPr>
          <a:xfrm>
            <a:off x="640080" y="4160520"/>
            <a:ext cx="10881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E7E0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variable carries:   source   ·   grain   ·   vintage   ·   confidence   ·   range   ·   % populated   ·   description</a:t>
            </a:r>
            <a:endParaRPr lang="en-US" sz="1350" dirty="0"/>
          </a:p>
        </p:txBody>
      </p:sp>
      <p:sp>
        <p:nvSpPr>
          <p:cNvPr id="18" name="Shape 16"/>
          <p:cNvSpPr/>
          <p:nvPr/>
        </p:nvSpPr>
        <p:spPr>
          <a:xfrm>
            <a:off x="640080" y="4709160"/>
            <a:ext cx="10881360" cy="1051560"/>
          </a:xfrm>
          <a:prstGeom prst="roundRect">
            <a:avLst>
              <a:gd name="adj" fmla="val 6957"/>
            </a:avLst>
          </a:prstGeom>
          <a:solidFill>
            <a:srgbClr val="43276F"/>
          </a:solidFill>
          <a:ln w="12700">
            <a:solidFill>
              <a:srgbClr val="43276F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868680" y="484632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100" kern="0" dirty="0">
                <a:solidFill>
                  <a:srgbClr val="D9A4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ask</a:t>
            </a:r>
            <a:endParaRPr lang="en-US" sz="1200" dirty="0"/>
          </a:p>
        </p:txBody>
      </p:sp>
      <p:sp>
        <p:nvSpPr>
          <p:cNvPr id="20" name="Text 18"/>
          <p:cNvSpPr/>
          <p:nvPr/>
        </p:nvSpPr>
        <p:spPr>
          <a:xfrm>
            <a:off x="868680" y="5138928"/>
            <a:ext cx="104241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Can you and Adam read through these and send questions back? It's the fastest way to catch a variable we've mislabeled before it propagates into the modeling.</a:t>
            </a:r>
            <a:endParaRPr lang="en-US" sz="14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110642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2B2B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One number, three denominators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548640" y="1005840"/>
            <a:ext cx="11064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i="1" dirty="0">
                <a:solidFill>
                  <a:srgbClr val="6E6E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 may see two different match rates in our materials — here's why both are right</a:t>
            </a:r>
            <a:endParaRPr lang="en-US" sz="1350" dirty="0"/>
          </a:p>
        </p:txBody>
      </p:sp>
      <p:sp>
        <p:nvSpPr>
          <p:cNvPr id="4" name="Shape 2"/>
          <p:cNvSpPr/>
          <p:nvPr/>
        </p:nvSpPr>
        <p:spPr>
          <a:xfrm>
            <a:off x="548640" y="1572768"/>
            <a:ext cx="5623560" cy="2487168"/>
          </a:xfrm>
          <a:prstGeom prst="roundRect">
            <a:avLst>
              <a:gd name="adj" fmla="val 2941"/>
            </a:avLst>
          </a:prstGeom>
          <a:solidFill>
            <a:srgbClr val="F6F4F9"/>
          </a:solidFill>
          <a:ln w="12700">
            <a:solidFill>
              <a:srgbClr val="F6F4F9"/>
            </a:solidFill>
            <a:prstDash val="solid"/>
          </a:ln>
          <a:effectLst>
            <a:outerShdw sx="100000" sy="100000" kx="0" ky="0" algn="bl" rotWithShape="0" blurRad="76200" dist="508" dir="5400000">
              <a:srgbClr val="999999">
                <a:alpha val="10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777240" y="1719072"/>
            <a:ext cx="52120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2B2B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34,392 rows, decomposed</a:t>
            </a:r>
            <a:endParaRPr lang="en-US" sz="1350" dirty="0"/>
          </a:p>
        </p:txBody>
      </p:sp>
      <p:sp>
        <p:nvSpPr>
          <p:cNvPr id="6" name="Text 4"/>
          <p:cNvSpPr/>
          <p:nvPr/>
        </p:nvSpPr>
        <p:spPr>
          <a:xfrm>
            <a:off x="822960" y="210312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2B2B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Org-only rows (no school record)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4526280" y="2103120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50" b="1" dirty="0">
                <a:solidFill>
                  <a:srgbClr val="B850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12,560</a:t>
            </a:r>
            <a:endParaRPr lang="en-US" sz="1250" dirty="0"/>
          </a:p>
        </p:txBody>
      </p:sp>
      <p:sp>
        <p:nvSpPr>
          <p:cNvPr id="8" name="Text 6"/>
          <p:cNvSpPr/>
          <p:nvPr/>
        </p:nvSpPr>
        <p:spPr>
          <a:xfrm>
            <a:off x="822960" y="2322576"/>
            <a:ext cx="47548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i="1" dirty="0">
                <a:solidFill>
                  <a:srgbClr val="B850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can never match, by construction</a:t>
            </a:r>
            <a:endParaRPr lang="en-US" sz="950" dirty="0"/>
          </a:p>
        </p:txBody>
      </p:sp>
      <p:sp>
        <p:nvSpPr>
          <p:cNvPr id="9" name="Text 7"/>
          <p:cNvSpPr/>
          <p:nvPr/>
        </p:nvSpPr>
        <p:spPr>
          <a:xfrm>
            <a:off x="822960" y="256032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2B2B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School-side record present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4526280" y="2560320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50" b="1" dirty="0">
                <a:solidFill>
                  <a:srgbClr val="2B2B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21,832</a:t>
            </a:r>
            <a:endParaRPr lang="en-US" sz="1250" dirty="0"/>
          </a:p>
        </p:txBody>
      </p:sp>
      <p:sp>
        <p:nvSpPr>
          <p:cNvPr id="11" name="Text 9"/>
          <p:cNvSpPr/>
          <p:nvPr/>
        </p:nvSpPr>
        <p:spPr>
          <a:xfrm>
            <a:off x="822960" y="301752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2B2B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 → matched to your org data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4526280" y="3017520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50" b="1" dirty="0">
                <a:solidFill>
                  <a:srgbClr val="2C5F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16,111</a:t>
            </a:r>
            <a:endParaRPr lang="en-US" sz="1250" dirty="0"/>
          </a:p>
        </p:txBody>
      </p:sp>
      <p:sp>
        <p:nvSpPr>
          <p:cNvPr id="13" name="Text 11"/>
          <p:cNvSpPr/>
          <p:nvPr/>
        </p:nvSpPr>
        <p:spPr>
          <a:xfrm>
            <a:off x="822960" y="347472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E6E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 → unmatched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4526280" y="3474720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50" b="1" dirty="0">
                <a:solidFill>
                  <a:srgbClr val="6E6E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5,721</a:t>
            </a:r>
            <a:endParaRPr lang="en-US" sz="1250" dirty="0"/>
          </a:p>
        </p:txBody>
      </p:sp>
      <p:sp>
        <p:nvSpPr>
          <p:cNvPr id="15" name="Shape 13"/>
          <p:cNvSpPr/>
          <p:nvPr/>
        </p:nvSpPr>
        <p:spPr>
          <a:xfrm>
            <a:off x="6446520" y="1572768"/>
            <a:ext cx="5166360" cy="768096"/>
          </a:xfrm>
          <a:prstGeom prst="roundRect">
            <a:avLst>
              <a:gd name="adj" fmla="val 9524"/>
            </a:avLst>
          </a:prstGeom>
          <a:solidFill>
            <a:srgbClr val="F6F4F9"/>
          </a:solidFill>
          <a:ln w="12700">
            <a:solidFill>
              <a:srgbClr val="F6F4F9"/>
            </a:solidFill>
            <a:prstDash val="solid"/>
          </a:ln>
          <a:effectLst>
            <a:outerShdw sx="100000" sy="100000" kx="0" ky="0" algn="bl" rotWithShape="0" blurRad="76200" dist="508" dir="5400000">
              <a:srgbClr val="999999">
                <a:alpha val="10000"/>
              </a:srgbClr>
            </a:outerShdw>
          </a:effectLst>
        </p:spPr>
      </p:sp>
      <p:sp>
        <p:nvSpPr>
          <p:cNvPr id="16" name="Text 14"/>
          <p:cNvSpPr/>
          <p:nvPr/>
        </p:nvSpPr>
        <p:spPr>
          <a:xfrm>
            <a:off x="6583680" y="1664208"/>
            <a:ext cx="11430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100" b="1" dirty="0">
                <a:solidFill>
                  <a:srgbClr val="2C5F2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64.5%</a:t>
            </a:r>
            <a:endParaRPr lang="en-US" sz="2100" dirty="0"/>
          </a:p>
        </p:txBody>
      </p:sp>
      <p:sp>
        <p:nvSpPr>
          <p:cNvPr id="17" name="Text 15"/>
          <p:cNvSpPr/>
          <p:nvPr/>
        </p:nvSpPr>
        <p:spPr>
          <a:xfrm>
            <a:off x="7772400" y="1655064"/>
            <a:ext cx="26060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2B2B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crosswalk's own performance</a:t>
            </a:r>
            <a:endParaRPr lang="en-US" sz="1150" dirty="0"/>
          </a:p>
        </p:txBody>
      </p:sp>
      <p:sp>
        <p:nvSpPr>
          <p:cNvPr id="18" name="Text 16"/>
          <p:cNvSpPr/>
          <p:nvPr/>
        </p:nvSpPr>
        <p:spPr>
          <a:xfrm>
            <a:off x="7772400" y="1911096"/>
            <a:ext cx="37033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E6E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16,508 / 25,577 — of schools we started with, how many matched</a:t>
            </a:r>
            <a:endParaRPr lang="en-US" sz="900" dirty="0"/>
          </a:p>
        </p:txBody>
      </p:sp>
      <p:sp>
        <p:nvSpPr>
          <p:cNvPr id="19" name="Text 17"/>
          <p:cNvSpPr/>
          <p:nvPr/>
        </p:nvSpPr>
        <p:spPr>
          <a:xfrm>
            <a:off x="10424160" y="1655064"/>
            <a:ext cx="10515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2C5F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 for the join</a:t>
            </a:r>
            <a:endParaRPr lang="en-US" sz="900" dirty="0"/>
          </a:p>
        </p:txBody>
      </p:sp>
      <p:sp>
        <p:nvSpPr>
          <p:cNvPr id="20" name="Shape 18"/>
          <p:cNvSpPr/>
          <p:nvPr/>
        </p:nvSpPr>
        <p:spPr>
          <a:xfrm>
            <a:off x="6446520" y="2432304"/>
            <a:ext cx="5166360" cy="768096"/>
          </a:xfrm>
          <a:prstGeom prst="roundRect">
            <a:avLst>
              <a:gd name="adj" fmla="val 9524"/>
            </a:avLst>
          </a:prstGeom>
          <a:solidFill>
            <a:srgbClr val="F6F4F9"/>
          </a:solidFill>
          <a:ln w="12700">
            <a:solidFill>
              <a:srgbClr val="F6F4F9"/>
            </a:solidFill>
            <a:prstDash val="solid"/>
          </a:ln>
          <a:effectLst>
            <a:outerShdw sx="100000" sy="100000" kx="0" ky="0" algn="bl" rotWithShape="0" blurRad="76200" dist="508" dir="5400000">
              <a:srgbClr val="999999">
                <a:alpha val="10000"/>
              </a:srgbClr>
            </a:outerShdw>
          </a:effectLst>
        </p:spPr>
      </p:sp>
      <p:sp>
        <p:nvSpPr>
          <p:cNvPr id="21" name="Text 19"/>
          <p:cNvSpPr/>
          <p:nvPr/>
        </p:nvSpPr>
        <p:spPr>
          <a:xfrm>
            <a:off x="6583680" y="2523744"/>
            <a:ext cx="11430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100" b="1" dirty="0">
                <a:solidFill>
                  <a:srgbClr val="4E2A8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73.8%</a:t>
            </a:r>
            <a:endParaRPr lang="en-US" sz="2100" dirty="0"/>
          </a:p>
        </p:txBody>
      </p:sp>
      <p:sp>
        <p:nvSpPr>
          <p:cNvPr id="22" name="Text 20"/>
          <p:cNvSpPr/>
          <p:nvPr/>
        </p:nvSpPr>
        <p:spPr>
          <a:xfrm>
            <a:off x="7772400" y="2514600"/>
            <a:ext cx="26060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2B2B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within the modeling dataset</a:t>
            </a:r>
            <a:endParaRPr lang="en-US" sz="1150" dirty="0"/>
          </a:p>
        </p:txBody>
      </p:sp>
      <p:sp>
        <p:nvSpPr>
          <p:cNvPr id="23" name="Text 21"/>
          <p:cNvSpPr/>
          <p:nvPr/>
        </p:nvSpPr>
        <p:spPr>
          <a:xfrm>
            <a:off x="7772400" y="2770632"/>
            <a:ext cx="37033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E6E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16,111 / 21,832 — of rows that could match, how many did</a:t>
            </a:r>
            <a:endParaRPr lang="en-US" sz="900" dirty="0"/>
          </a:p>
        </p:txBody>
      </p:sp>
      <p:sp>
        <p:nvSpPr>
          <p:cNvPr id="24" name="Text 22"/>
          <p:cNvSpPr/>
          <p:nvPr/>
        </p:nvSpPr>
        <p:spPr>
          <a:xfrm>
            <a:off x="10424160" y="2514600"/>
            <a:ext cx="10515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4E2A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 for the dataset</a:t>
            </a:r>
            <a:endParaRPr lang="en-US" sz="900" dirty="0"/>
          </a:p>
        </p:txBody>
      </p:sp>
      <p:sp>
        <p:nvSpPr>
          <p:cNvPr id="25" name="Shape 23"/>
          <p:cNvSpPr/>
          <p:nvPr/>
        </p:nvSpPr>
        <p:spPr>
          <a:xfrm>
            <a:off x="6446520" y="3291840"/>
            <a:ext cx="5166360" cy="768096"/>
          </a:xfrm>
          <a:prstGeom prst="roundRect">
            <a:avLst>
              <a:gd name="adj" fmla="val 9524"/>
            </a:avLst>
          </a:prstGeom>
          <a:solidFill>
            <a:srgbClr val="FBEDEC"/>
          </a:solidFill>
          <a:ln w="12700">
            <a:solidFill>
              <a:srgbClr val="FBEDEC"/>
            </a:solidFill>
            <a:prstDash val="solid"/>
          </a:ln>
          <a:effectLst>
            <a:outerShdw sx="100000" sy="100000" kx="0" ky="0" algn="bl" rotWithShape="0" blurRad="76200" dist="508" dir="5400000">
              <a:srgbClr val="999999">
                <a:alpha val="10000"/>
              </a:srgbClr>
            </a:outerShdw>
          </a:effectLst>
        </p:spPr>
      </p:sp>
      <p:sp>
        <p:nvSpPr>
          <p:cNvPr id="26" name="Text 24"/>
          <p:cNvSpPr/>
          <p:nvPr/>
        </p:nvSpPr>
        <p:spPr>
          <a:xfrm>
            <a:off x="6583680" y="3383280"/>
            <a:ext cx="11430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100" b="1" dirty="0">
                <a:solidFill>
                  <a:srgbClr val="B8504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46.8%</a:t>
            </a:r>
            <a:endParaRPr lang="en-US" sz="2100" dirty="0"/>
          </a:p>
        </p:txBody>
      </p:sp>
      <p:sp>
        <p:nvSpPr>
          <p:cNvPr id="27" name="Text 25"/>
          <p:cNvSpPr/>
          <p:nvPr/>
        </p:nvSpPr>
        <p:spPr>
          <a:xfrm>
            <a:off x="7772400" y="3374136"/>
            <a:ext cx="26060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2B2B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share of all modeling rows</a:t>
            </a:r>
            <a:endParaRPr lang="en-US" sz="1150" dirty="0"/>
          </a:p>
        </p:txBody>
      </p:sp>
      <p:sp>
        <p:nvSpPr>
          <p:cNvPr id="28" name="Text 26"/>
          <p:cNvSpPr/>
          <p:nvPr/>
        </p:nvSpPr>
        <p:spPr>
          <a:xfrm>
            <a:off x="7772400" y="3630168"/>
            <a:ext cx="37033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E6E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16,111 / 34,392 — penalizes the join for rows it was never offered</a:t>
            </a:r>
            <a:endParaRPr lang="en-US" sz="900" dirty="0"/>
          </a:p>
        </p:txBody>
      </p:sp>
      <p:sp>
        <p:nvSpPr>
          <p:cNvPr id="29" name="Text 27"/>
          <p:cNvSpPr/>
          <p:nvPr/>
        </p:nvSpPr>
        <p:spPr>
          <a:xfrm>
            <a:off x="10424160" y="3374136"/>
            <a:ext cx="10515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B850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Don't quote alone</a:t>
            </a:r>
            <a:endParaRPr lang="en-US" sz="900" dirty="0"/>
          </a:p>
        </p:txBody>
      </p:sp>
      <p:sp>
        <p:nvSpPr>
          <p:cNvPr id="30" name="Shape 28"/>
          <p:cNvSpPr/>
          <p:nvPr/>
        </p:nvSpPr>
        <p:spPr>
          <a:xfrm>
            <a:off x="548640" y="4224528"/>
            <a:ext cx="11064240" cy="960120"/>
          </a:xfrm>
          <a:prstGeom prst="roundRect">
            <a:avLst>
              <a:gd name="adj" fmla="val 7619"/>
            </a:avLst>
          </a:prstGeom>
          <a:solidFill>
            <a:srgbClr val="E7E0F0"/>
          </a:solidFill>
          <a:ln w="12700">
            <a:solidFill>
              <a:srgbClr val="E7E0F0"/>
            </a:solidFill>
            <a:prstDash val="solid"/>
          </a:ln>
          <a:effectLst>
            <a:outerShdw sx="100000" sy="100000" kx="0" ky="0" algn="bl" rotWithShape="0" blurRad="76200" dist="508" dir="5400000">
              <a:srgbClr val="999999">
                <a:alpha val="10000"/>
              </a:srgbClr>
            </a:outerShdw>
          </a:effectLst>
        </p:spPr>
      </p:sp>
      <p:sp>
        <p:nvSpPr>
          <p:cNvPr id="31" name="Text 29"/>
          <p:cNvSpPr/>
          <p:nvPr/>
        </p:nvSpPr>
        <p:spPr>
          <a:xfrm>
            <a:off x="777240" y="4352544"/>
            <a:ext cx="10607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331A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numerator is identical in both figures.</a:t>
            </a:r>
            <a:endParaRPr lang="en-US" sz="1350" dirty="0"/>
          </a:p>
        </p:txBody>
      </p:sp>
      <p:sp>
        <p:nvSpPr>
          <p:cNvPr id="32" name="Text 30"/>
          <p:cNvSpPr/>
          <p:nvPr/>
        </p:nvSpPr>
        <p:spPr>
          <a:xfrm>
            <a:off x="777240" y="4645152"/>
            <a:ext cx="10607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331A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16,508 matched schools carry all the way through; the freeze then drops 397 of them for being too small or not high schools, leaving 16,111. Nothing about the matching changed — only what we divided by.</a:t>
            </a:r>
            <a:endParaRPr lang="en-US" sz="1200" dirty="0"/>
          </a:p>
        </p:txBody>
      </p:sp>
      <p:sp>
        <p:nvSpPr>
          <p:cNvPr id="33" name="Text 31"/>
          <p:cNvSpPr/>
          <p:nvPr/>
        </p:nvSpPr>
        <p:spPr>
          <a:xfrm>
            <a:off x="548640" y="5394960"/>
            <a:ext cx="11064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i="1" dirty="0">
                <a:solidFill>
                  <a:srgbClr val="6E6E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Full derivation in docs/MATCH_RATE_RECONCILIATION.md — flagging it here so the two numbers don't look like an error if you see them side by side.</a:t>
            </a:r>
            <a:endParaRPr lang="en-US" sz="11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110642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2B2B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Different sources, different update cycles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548640" y="1005840"/>
            <a:ext cx="11064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i="1" dirty="0">
                <a:solidFill>
                  <a:srgbClr val="6E6E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Your concern from last week — it's really two questions, and they have different answers</a:t>
            </a:r>
            <a:endParaRPr lang="en-US" sz="1350" dirty="0"/>
          </a:p>
        </p:txBody>
      </p:sp>
      <p:sp>
        <p:nvSpPr>
          <p:cNvPr id="4" name="Shape 2"/>
          <p:cNvSpPr/>
          <p:nvPr/>
        </p:nvSpPr>
        <p:spPr>
          <a:xfrm>
            <a:off x="548640" y="1627632"/>
            <a:ext cx="5394960" cy="3154680"/>
          </a:xfrm>
          <a:prstGeom prst="roundRect">
            <a:avLst>
              <a:gd name="adj" fmla="val 2319"/>
            </a:avLst>
          </a:prstGeom>
          <a:solidFill>
            <a:srgbClr val="EDF3EE"/>
          </a:solidFill>
          <a:ln w="12700">
            <a:solidFill>
              <a:srgbClr val="EDF3EE"/>
            </a:solidFill>
            <a:prstDash val="solid"/>
          </a:ln>
          <a:effectLst>
            <a:outerShdw sx="100000" sy="100000" kx="0" ky="0" algn="bl" rotWithShape="0" blurRad="76200" dist="508" dir="5400000">
              <a:srgbClr val="999999">
                <a:alpha val="10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777240" y="1810512"/>
            <a:ext cx="402336" cy="402336"/>
          </a:xfrm>
          <a:prstGeom prst="ellipse">
            <a:avLst/>
          </a:prstGeom>
          <a:solidFill>
            <a:srgbClr val="3F7D53"/>
          </a:solidFill>
          <a:ln/>
        </p:spPr>
      </p:sp>
      <p:sp>
        <p:nvSpPr>
          <p:cNvPr id="6" name="Text 4"/>
          <p:cNvSpPr/>
          <p:nvPr/>
        </p:nvSpPr>
        <p:spPr>
          <a:xfrm>
            <a:off x="777240" y="1810512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500" dirty="0"/>
          </a:p>
        </p:txBody>
      </p:sp>
      <p:sp>
        <p:nvSpPr>
          <p:cNvPr id="7" name="Text 5"/>
          <p:cNvSpPr/>
          <p:nvPr/>
        </p:nvSpPr>
        <p:spPr>
          <a:xfrm>
            <a:off x="1325880" y="1819656"/>
            <a:ext cx="4480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2C5F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When we pulled the file</a:t>
            </a:r>
            <a:endParaRPr lang="en-US" sz="1550" dirty="0"/>
          </a:p>
        </p:txBody>
      </p:sp>
      <p:sp>
        <p:nvSpPr>
          <p:cNvPr id="8" name="Text 6"/>
          <p:cNvSpPr/>
          <p:nvPr/>
        </p:nvSpPr>
        <p:spPr>
          <a:xfrm>
            <a:off x="868680" y="2231136"/>
            <a:ext cx="4754880" cy="2331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250" dirty="0">
                <a:solidFill>
                  <a:srgbClr val="2B2B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Solved — answerable from our own repository history, no one else needed.</a:t>
            </a:r>
            <a:endParaRPr lang="en-US" sz="125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250" dirty="0">
                <a:solidFill>
                  <a:srgbClr val="2B2B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22 of 23 source files now carry a real first- and last-updated date.</a:t>
            </a:r>
            <a:endParaRPr lang="en-US" sz="125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250" dirty="0">
                <a:solidFill>
                  <a:srgbClr val="2B2B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Regenerates automatically whenever a source is refreshed.</a:t>
            </a:r>
            <a:endParaRPr lang="en-US" sz="1250" dirty="0"/>
          </a:p>
        </p:txBody>
      </p:sp>
      <p:sp>
        <p:nvSpPr>
          <p:cNvPr id="9" name="Shape 7"/>
          <p:cNvSpPr/>
          <p:nvPr/>
        </p:nvSpPr>
        <p:spPr>
          <a:xfrm>
            <a:off x="6217920" y="1627632"/>
            <a:ext cx="5394960" cy="3154680"/>
          </a:xfrm>
          <a:prstGeom prst="roundRect">
            <a:avLst>
              <a:gd name="adj" fmla="val 2319"/>
            </a:avLst>
          </a:prstGeom>
          <a:solidFill>
            <a:srgbClr val="FBF2E4"/>
          </a:solidFill>
          <a:ln w="12700">
            <a:solidFill>
              <a:srgbClr val="FBF2E4"/>
            </a:solidFill>
            <a:prstDash val="solid"/>
          </a:ln>
          <a:effectLst>
            <a:outerShdw sx="100000" sy="100000" kx="0" ky="0" algn="bl" rotWithShape="0" blurRad="76200" dist="508" dir="5400000">
              <a:srgbClr val="999999">
                <a:alpha val="10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6446520" y="1810512"/>
            <a:ext cx="402336" cy="402336"/>
          </a:xfrm>
          <a:prstGeom prst="ellipse">
            <a:avLst/>
          </a:prstGeom>
          <a:solidFill>
            <a:srgbClr val="D9A441"/>
          </a:solidFill>
          <a:ln/>
        </p:spPr>
      </p:sp>
      <p:sp>
        <p:nvSpPr>
          <p:cNvPr id="11" name="Text 9"/>
          <p:cNvSpPr/>
          <p:nvPr/>
        </p:nvSpPr>
        <p:spPr>
          <a:xfrm>
            <a:off x="6446520" y="1810512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500" dirty="0"/>
          </a:p>
        </p:txBody>
      </p:sp>
      <p:sp>
        <p:nvSpPr>
          <p:cNvPr id="12" name="Text 10"/>
          <p:cNvSpPr/>
          <p:nvPr/>
        </p:nvSpPr>
        <p:spPr>
          <a:xfrm>
            <a:off x="6995160" y="1819656"/>
            <a:ext cx="4480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8A601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When the data was measured</a:t>
            </a:r>
            <a:endParaRPr lang="en-US" sz="1550" dirty="0"/>
          </a:p>
        </p:txBody>
      </p:sp>
      <p:sp>
        <p:nvSpPr>
          <p:cNvPr id="13" name="Text 11"/>
          <p:cNvSpPr/>
          <p:nvPr/>
        </p:nvSpPr>
        <p:spPr>
          <a:xfrm>
            <a:off x="6537960" y="2231136"/>
            <a:ext cx="4754880" cy="2331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250" dirty="0">
                <a:solidFill>
                  <a:srgbClr val="2B2B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Still open — this is the one we can't answer ourselves.</a:t>
            </a:r>
            <a:endParaRPr lang="en-US" sz="125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250" dirty="0">
                <a:solidFill>
                  <a:srgbClr val="2B2B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 your 56 fields we can confirm the export date (June 24) but not when each statistic was actually measured.</a:t>
            </a:r>
            <a:endParaRPr lang="en-US" sz="125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250" dirty="0">
                <a:solidFill>
                  <a:srgbClr val="2B2B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This is exactly the "old section vs. new section" problem — we built the column to hold the answer, we just don't have the answer.</a:t>
            </a:r>
            <a:endParaRPr lang="en-US" sz="1250" dirty="0"/>
          </a:p>
        </p:txBody>
      </p:sp>
      <p:sp>
        <p:nvSpPr>
          <p:cNvPr id="14" name="Text 12"/>
          <p:cNvSpPr/>
          <p:nvPr/>
        </p:nvSpPr>
        <p:spPr>
          <a:xfrm>
            <a:off x="548640" y="4983480"/>
            <a:ext cx="110642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6E6E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13 of 57 variables are waiting on a measurement date — 11 of those need Sheng, not you. It's a short, specific list now rather than an open-ended question.</a:t>
            </a:r>
            <a:endParaRPr lang="en-US" sz="12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110642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2B2B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Three questions we closed without you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548640" y="1005840"/>
            <a:ext cx="11064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i="1" dirty="0">
                <a:solidFill>
                  <a:srgbClr val="6E6E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 three were on last week's list for Bob — none of them still needs your time</a:t>
            </a:r>
            <a:endParaRPr lang="en-US" sz="1350" dirty="0"/>
          </a:p>
        </p:txBody>
      </p:sp>
      <p:sp>
        <p:nvSpPr>
          <p:cNvPr id="4" name="Shape 2"/>
          <p:cNvSpPr/>
          <p:nvPr/>
        </p:nvSpPr>
        <p:spPr>
          <a:xfrm>
            <a:off x="548640" y="1627632"/>
            <a:ext cx="11064240" cy="1207008"/>
          </a:xfrm>
          <a:prstGeom prst="roundRect">
            <a:avLst>
              <a:gd name="adj" fmla="val 6061"/>
            </a:avLst>
          </a:prstGeom>
          <a:solidFill>
            <a:srgbClr val="F6F4F9"/>
          </a:solidFill>
          <a:ln w="12700">
            <a:solidFill>
              <a:srgbClr val="F6F4F9"/>
            </a:solidFill>
            <a:prstDash val="solid"/>
          </a:ln>
          <a:effectLst>
            <a:outerShdw sx="100000" sy="100000" kx="0" ky="0" algn="bl" rotWithShape="0" blurRad="76200" dist="508" dir="5400000">
              <a:srgbClr val="999999">
                <a:alpha val="10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777240" y="2011680"/>
            <a:ext cx="420624" cy="420624"/>
          </a:xfrm>
          <a:prstGeom prst="ellipse">
            <a:avLst/>
          </a:prstGeom>
          <a:solidFill>
            <a:srgbClr val="4E2A84"/>
          </a:solidFill>
          <a:ln/>
        </p:spPr>
      </p:sp>
      <p:sp>
        <p:nvSpPr>
          <p:cNvPr id="6" name="Text 4"/>
          <p:cNvSpPr/>
          <p:nvPr/>
        </p:nvSpPr>
        <p:spPr>
          <a:xfrm>
            <a:off x="777240" y="2011680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500" dirty="0"/>
          </a:p>
        </p:txBody>
      </p:sp>
      <p:sp>
        <p:nvSpPr>
          <p:cNvPr id="7" name="Text 5"/>
          <p:cNvSpPr/>
          <p:nvPr/>
        </p:nvSpPr>
        <p:spPr>
          <a:xfrm>
            <a:off x="1371600" y="1773936"/>
            <a:ext cx="99669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2B2B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Historical rigor labels</a:t>
            </a:r>
            <a:endParaRPr lang="en-US" sz="1500" dirty="0"/>
          </a:p>
        </p:txBody>
      </p:sp>
      <p:sp>
        <p:nvSpPr>
          <p:cNvPr id="8" name="Text 6"/>
          <p:cNvSpPr/>
          <p:nvPr/>
        </p:nvSpPr>
        <p:spPr>
          <a:xfrm>
            <a:off x="1371600" y="2103120"/>
            <a:ext cx="99669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6E6E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 needed after all. The rigor tier is a transparent weighted composite, not a model trained on past ground truth — so there's nothing to label.</a:t>
            </a:r>
            <a:endParaRPr lang="en-US" sz="1250" dirty="0"/>
          </a:p>
        </p:txBody>
      </p:sp>
      <p:sp>
        <p:nvSpPr>
          <p:cNvPr id="9" name="Shape 7"/>
          <p:cNvSpPr/>
          <p:nvPr/>
        </p:nvSpPr>
        <p:spPr>
          <a:xfrm>
            <a:off x="548640" y="2999232"/>
            <a:ext cx="11064240" cy="1207008"/>
          </a:xfrm>
          <a:prstGeom prst="roundRect">
            <a:avLst>
              <a:gd name="adj" fmla="val 6061"/>
            </a:avLst>
          </a:prstGeom>
          <a:solidFill>
            <a:srgbClr val="F6F4F9"/>
          </a:solidFill>
          <a:ln w="12700">
            <a:solidFill>
              <a:srgbClr val="F6F4F9"/>
            </a:solidFill>
            <a:prstDash val="solid"/>
          </a:ln>
          <a:effectLst>
            <a:outerShdw sx="100000" sy="100000" kx="0" ky="0" algn="bl" rotWithShape="0" blurRad="76200" dist="508" dir="5400000">
              <a:srgbClr val="999999">
                <a:alpha val="10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777240" y="3383280"/>
            <a:ext cx="420624" cy="420624"/>
          </a:xfrm>
          <a:prstGeom prst="ellipse">
            <a:avLst/>
          </a:prstGeom>
          <a:solidFill>
            <a:srgbClr val="4E2A84"/>
          </a:solidFill>
          <a:ln/>
        </p:spPr>
      </p:sp>
      <p:sp>
        <p:nvSpPr>
          <p:cNvPr id="11" name="Text 9"/>
          <p:cNvSpPr/>
          <p:nvPr/>
        </p:nvSpPr>
        <p:spPr>
          <a:xfrm>
            <a:off x="777240" y="3383280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500" dirty="0"/>
          </a:p>
        </p:txBody>
      </p:sp>
      <p:sp>
        <p:nvSpPr>
          <p:cNvPr id="12" name="Text 10"/>
          <p:cNvSpPr/>
          <p:nvPr/>
        </p:nvSpPr>
        <p:spPr>
          <a:xfrm>
            <a:off x="1371600" y="3145536"/>
            <a:ext cx="99669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2B2B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Are the socio-context fields need-coded?</a:t>
            </a:r>
            <a:endParaRPr lang="en-US" sz="1500" dirty="0"/>
          </a:p>
        </p:txBody>
      </p:sp>
      <p:sp>
        <p:nvSpPr>
          <p:cNvPr id="13" name="Text 11"/>
          <p:cNvSpPr/>
          <p:nvPr/>
        </p:nvSpPr>
        <p:spPr>
          <a:xfrm>
            <a:off x="1371600" y="3474720"/>
            <a:ext cx="99669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6E6E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Confirmed from the data itself. All five share a 1–100 scale and move together (correlations 0.38–0.91); two check out independently against Census figures. So all five are coded the same way.</a:t>
            </a:r>
            <a:endParaRPr lang="en-US" sz="1250" dirty="0"/>
          </a:p>
        </p:txBody>
      </p:sp>
      <p:sp>
        <p:nvSpPr>
          <p:cNvPr id="14" name="Shape 12"/>
          <p:cNvSpPr/>
          <p:nvPr/>
        </p:nvSpPr>
        <p:spPr>
          <a:xfrm>
            <a:off x="548640" y="4370832"/>
            <a:ext cx="11064240" cy="1207008"/>
          </a:xfrm>
          <a:prstGeom prst="roundRect">
            <a:avLst>
              <a:gd name="adj" fmla="val 6061"/>
            </a:avLst>
          </a:prstGeom>
          <a:solidFill>
            <a:srgbClr val="F6F4F9"/>
          </a:solidFill>
          <a:ln w="12700">
            <a:solidFill>
              <a:srgbClr val="F6F4F9"/>
            </a:solidFill>
            <a:prstDash val="solid"/>
          </a:ln>
          <a:effectLst>
            <a:outerShdw sx="100000" sy="100000" kx="0" ky="0" algn="bl" rotWithShape="0" blurRad="76200" dist="508" dir="5400000">
              <a:srgbClr val="999999">
                <a:alpha val="10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777240" y="4754880"/>
            <a:ext cx="420624" cy="420624"/>
          </a:xfrm>
          <a:prstGeom prst="ellipse">
            <a:avLst/>
          </a:prstGeom>
          <a:solidFill>
            <a:srgbClr val="4E2A84"/>
          </a:solidFill>
          <a:ln/>
        </p:spPr>
      </p:sp>
      <p:sp>
        <p:nvSpPr>
          <p:cNvPr id="16" name="Text 14"/>
          <p:cNvSpPr/>
          <p:nvPr/>
        </p:nvSpPr>
        <p:spPr>
          <a:xfrm>
            <a:off x="777240" y="4754880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500" dirty="0"/>
          </a:p>
        </p:txBody>
      </p:sp>
      <p:sp>
        <p:nvSpPr>
          <p:cNvPr id="17" name="Text 15"/>
          <p:cNvSpPr/>
          <p:nvPr/>
        </p:nvSpPr>
        <p:spPr>
          <a:xfrm>
            <a:off x="1371600" y="4517136"/>
            <a:ext cx="99669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2B2B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custom ID in your org export</a:t>
            </a:r>
            <a:endParaRPr lang="en-US" sz="1500" dirty="0"/>
          </a:p>
        </p:txBody>
      </p:sp>
      <p:sp>
        <p:nvSpPr>
          <p:cNvPr id="18" name="Text 16"/>
          <p:cNvSpPr/>
          <p:nvPr/>
        </p:nvSpPr>
        <p:spPr>
          <a:xfrm>
            <a:off x="1371600" y="4846320"/>
            <a:ext cx="99669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6E6E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Investigated directly. It's 76.5% populated, matches no federal identifier we hold, and has 84 duplicate values — an internal ID from whatever system produced the export, with no cross-referencing value here.</a:t>
            </a:r>
            <a:endParaRPr lang="en-US" sz="1250" dirty="0"/>
          </a:p>
        </p:txBody>
      </p:sp>
      <p:sp>
        <p:nvSpPr>
          <p:cNvPr id="19" name="Text 17"/>
          <p:cNvSpPr/>
          <p:nvPr/>
        </p:nvSpPr>
        <p:spPr>
          <a:xfrm>
            <a:off x="548640" y="5806440"/>
            <a:ext cx="11064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i="1" dirty="0">
                <a:solidFill>
                  <a:srgbClr val="4E2A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Our default going forward: if a question is answerable from the data, we answer it and tell you what we found — and only escalate what genuinely needs your knowledge of your systems.</a:t>
            </a:r>
            <a:endParaRPr lang="en-US" sz="12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110642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2B2B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One thing we found in your export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548640" y="1005840"/>
            <a:ext cx="11064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i="1" dirty="0">
                <a:solidFill>
                  <a:srgbClr val="6E6E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Surfaced by accident while investigating the custom ID — flagged, not corrected</a:t>
            </a:r>
            <a:endParaRPr lang="en-US" sz="1350" dirty="0"/>
          </a:p>
        </p:txBody>
      </p:sp>
      <p:sp>
        <p:nvSpPr>
          <p:cNvPr id="4" name="Shape 2"/>
          <p:cNvSpPr/>
          <p:nvPr/>
        </p:nvSpPr>
        <p:spPr>
          <a:xfrm>
            <a:off x="548640" y="1627632"/>
            <a:ext cx="5486400" cy="2331720"/>
          </a:xfrm>
          <a:prstGeom prst="roundRect">
            <a:avLst>
              <a:gd name="adj" fmla="val 3137"/>
            </a:avLst>
          </a:prstGeom>
          <a:solidFill>
            <a:srgbClr val="FBEDEC"/>
          </a:solidFill>
          <a:ln w="12700">
            <a:solidFill>
              <a:srgbClr val="FBEDEC"/>
            </a:solidFill>
            <a:prstDash val="solid"/>
          </a:ln>
          <a:effectLst>
            <a:outerShdw sx="100000" sy="100000" kx="0" ky="0" algn="bl" rotWithShape="0" blurRad="76200" dist="508" dir="5400000">
              <a:srgbClr val="999999">
                <a:alpha val="10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822960" y="1773936"/>
            <a:ext cx="493776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B850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pattern</a:t>
            </a:r>
            <a:endParaRPr lang="en-US" sz="1450" dirty="0"/>
          </a:p>
        </p:txBody>
      </p:sp>
      <p:sp>
        <p:nvSpPr>
          <p:cNvPr id="6" name="Text 4"/>
          <p:cNvSpPr/>
          <p:nvPr/>
        </p:nvSpPr>
        <p:spPr>
          <a:xfrm>
            <a:off x="822960" y="2121408"/>
            <a:ext cx="49377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2B2B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Two clearly different schools whose CEEB codes are related by an exact leading-zero / trailing-zero shift:</a:t>
            </a:r>
            <a:endParaRPr lang="en-US" sz="1250" dirty="0"/>
          </a:p>
        </p:txBody>
      </p:sp>
      <p:sp>
        <p:nvSpPr>
          <p:cNvPr id="7" name="Text 5"/>
          <p:cNvSpPr/>
          <p:nvPr/>
        </p:nvSpPr>
        <p:spPr>
          <a:xfrm>
            <a:off x="822960" y="2743200"/>
            <a:ext cx="49377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B8504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050003    vs.    500030</a:t>
            </a:r>
            <a:endParaRPr lang="en-US" sz="2000" dirty="0"/>
          </a:p>
        </p:txBody>
      </p:sp>
      <p:sp>
        <p:nvSpPr>
          <p:cNvPr id="8" name="Text 6"/>
          <p:cNvSpPr/>
          <p:nvPr/>
        </p:nvSpPr>
        <p:spPr>
          <a:xfrm>
            <a:off x="822960" y="3218688"/>
            <a:ext cx="49377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i="1" dirty="0">
                <a:solidFill>
                  <a:srgbClr val="6E6E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classic signature of a 6-digit zero-padded code stored as a number somewhere upstream, then re-padded on the wrong side.</a:t>
            </a:r>
            <a:endParaRPr lang="en-US" sz="1150" dirty="0"/>
          </a:p>
        </p:txBody>
      </p:sp>
      <p:sp>
        <p:nvSpPr>
          <p:cNvPr id="9" name="Shape 7"/>
          <p:cNvSpPr/>
          <p:nvPr/>
        </p:nvSpPr>
        <p:spPr>
          <a:xfrm>
            <a:off x="6309360" y="1627632"/>
            <a:ext cx="5303520" cy="1051560"/>
          </a:xfrm>
          <a:prstGeom prst="roundRect">
            <a:avLst>
              <a:gd name="adj" fmla="val 6957"/>
            </a:avLst>
          </a:prstGeom>
          <a:solidFill>
            <a:srgbClr val="F6F4F9"/>
          </a:solidFill>
          <a:ln w="12700">
            <a:solidFill>
              <a:srgbClr val="F6F4F9"/>
            </a:solidFill>
            <a:prstDash val="solid"/>
          </a:ln>
          <a:effectLst>
            <a:outerShdw sx="100000" sy="100000" kx="0" ky="0" algn="bl" rotWithShape="0" blurRad="76200" dist="508" dir="5400000">
              <a:srgbClr val="999999">
                <a:alpha val="10000"/>
              </a:srgbClr>
            </a:outerShdw>
          </a:effectLst>
        </p:spPr>
      </p:sp>
      <p:sp>
        <p:nvSpPr>
          <p:cNvPr id="10" name="Text 8"/>
          <p:cNvSpPr/>
          <p:nvPr/>
        </p:nvSpPr>
        <p:spPr>
          <a:xfrm>
            <a:off x="6446520" y="1828800"/>
            <a:ext cx="11887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200" b="1" dirty="0">
                <a:solidFill>
                  <a:srgbClr val="B8504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62</a:t>
            </a:r>
            <a:endParaRPr lang="en-US" sz="3200" dirty="0"/>
          </a:p>
        </p:txBody>
      </p:sp>
      <p:sp>
        <p:nvSpPr>
          <p:cNvPr id="11" name="Text 9"/>
          <p:cNvSpPr/>
          <p:nvPr/>
        </p:nvSpPr>
        <p:spPr>
          <a:xfrm>
            <a:off x="7726680" y="1755648"/>
            <a:ext cx="3749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2B2B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confirmed pairs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7726680" y="2039112"/>
            <a:ext cx="37490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E6E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duplicate-ID pairs fitting the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6E6E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pattern exactly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6309360" y="2816352"/>
            <a:ext cx="5303520" cy="1051560"/>
          </a:xfrm>
          <a:prstGeom prst="roundRect">
            <a:avLst>
              <a:gd name="adj" fmla="val 6957"/>
            </a:avLst>
          </a:prstGeom>
          <a:solidFill>
            <a:srgbClr val="F6F4F9"/>
          </a:solidFill>
          <a:ln w="12700">
            <a:solidFill>
              <a:srgbClr val="F6F4F9"/>
            </a:solidFill>
            <a:prstDash val="solid"/>
          </a:ln>
          <a:effectLst>
            <a:outerShdw sx="100000" sy="100000" kx="0" ky="0" algn="bl" rotWithShape="0" blurRad="76200" dist="508" dir="5400000">
              <a:srgbClr val="999999">
                <a:alpha val="10000"/>
              </a:srgbClr>
            </a:outerShdw>
          </a:effectLst>
        </p:spPr>
      </p:sp>
      <p:sp>
        <p:nvSpPr>
          <p:cNvPr id="14" name="Text 12"/>
          <p:cNvSpPr/>
          <p:nvPr/>
        </p:nvSpPr>
        <p:spPr>
          <a:xfrm>
            <a:off x="6446520" y="3017520"/>
            <a:ext cx="11887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200" b="1" dirty="0">
                <a:solidFill>
                  <a:srgbClr val="8A601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644</a:t>
            </a:r>
            <a:endParaRPr lang="en-US" sz="3200" dirty="0"/>
          </a:p>
        </p:txBody>
      </p:sp>
      <p:sp>
        <p:nvSpPr>
          <p:cNvPr id="15" name="Text 13"/>
          <p:cNvSpPr/>
          <p:nvPr/>
        </p:nvSpPr>
        <p:spPr>
          <a:xfrm>
            <a:off x="7726680" y="2944368"/>
            <a:ext cx="3749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2B2B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flagged across the file</a:t>
            </a:r>
            <a:endParaRPr lang="en-US" sz="1300" dirty="0"/>
          </a:p>
        </p:txBody>
      </p:sp>
      <p:sp>
        <p:nvSpPr>
          <p:cNvPr id="16" name="Text 14"/>
          <p:cNvSpPr/>
          <p:nvPr/>
        </p:nvSpPr>
        <p:spPr>
          <a:xfrm>
            <a:off x="7726680" y="3227832"/>
            <a:ext cx="37490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E6E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codes with a same-file counterpart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6E6E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fitting the pattern — some fraction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6E6E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of those will be coincidental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6309360" y="4005072"/>
            <a:ext cx="5303520" cy="841248"/>
          </a:xfrm>
          <a:prstGeom prst="roundRect">
            <a:avLst>
              <a:gd name="adj" fmla="val 8696"/>
            </a:avLst>
          </a:prstGeom>
          <a:solidFill>
            <a:srgbClr val="E7E0F0"/>
          </a:solidFill>
          <a:ln w="12700">
            <a:solidFill>
              <a:srgbClr val="E7E0F0"/>
            </a:solidFill>
            <a:prstDash val="solid"/>
          </a:ln>
          <a:effectLst>
            <a:outerShdw sx="100000" sy="100000" kx="0" ky="0" algn="bl" rotWithShape="0" blurRad="76200" dist="508" dir="5400000">
              <a:srgbClr val="999999">
                <a:alpha val="10000"/>
              </a:srgbClr>
            </a:outerShdw>
          </a:effectLst>
        </p:spPr>
      </p:sp>
      <p:sp>
        <p:nvSpPr>
          <p:cNvPr id="18" name="Text 16"/>
          <p:cNvSpPr/>
          <p:nvPr/>
        </p:nvSpPr>
        <p:spPr>
          <a:xfrm>
            <a:off x="6492240" y="4114800"/>
            <a:ext cx="49834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331A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Flagged in the data, not auto-corrected — there's no reliable way to tell which side of a pair is the right one without knowing your source system.</a:t>
            </a:r>
            <a:endParaRPr lang="en-US" sz="1100" dirty="0"/>
          </a:p>
        </p:txBody>
      </p:sp>
      <p:sp>
        <p:nvSpPr>
          <p:cNvPr id="19" name="Text 17"/>
          <p:cNvSpPr/>
          <p:nvPr/>
        </p:nvSpPr>
        <p:spPr>
          <a:xfrm>
            <a:off x="548640" y="5074920"/>
            <a:ext cx="110642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4E2A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Ask for Bob: do you know which export step could introduce this? If it's fixable upstream that's cleaner than us guessing downstream — and it may affect your production data too, not just our copy.</a:t>
            </a:r>
            <a:endParaRPr lang="en-US" sz="135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110642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2B2B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Rigor classification — first pass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548640" y="1005840"/>
            <a:ext cx="11064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i="1" dirty="0">
                <a:solidFill>
                  <a:srgbClr val="6E6E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transparent weighted composite across AP, advanced coursework, and test participation</a:t>
            </a:r>
            <a:endParaRPr lang="en-US" sz="1350" dirty="0"/>
          </a:p>
        </p:txBody>
      </p:sp>
      <p:graphicFrame>
        <p:nvGraphicFramePr>
          <p:cNvPr id="4" name="Chart 0" descr=""/>
          <p:cNvGraphicFramePr/>
          <p:nvPr/>
        </p:nvGraphicFramePr>
        <p:xfrm>
          <a:off x="457200" y="1572768"/>
          <a:ext cx="6035040" cy="329184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5" name="Text 2"/>
          <p:cNvSpPr/>
          <p:nvPr/>
        </p:nvSpPr>
        <p:spPr>
          <a:xfrm>
            <a:off x="548640" y="4956048"/>
            <a:ext cx="5943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i="1" dirty="0">
                <a:solidFill>
                  <a:srgbClr val="6E6E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Schools with none of the three components are left unscored — not quietly defaulted to a middle tier.</a:t>
            </a:r>
            <a:endParaRPr lang="en-US" sz="1150" dirty="0"/>
          </a:p>
        </p:txBody>
      </p:sp>
      <p:sp>
        <p:nvSpPr>
          <p:cNvPr id="6" name="Shape 3"/>
          <p:cNvSpPr/>
          <p:nvPr/>
        </p:nvSpPr>
        <p:spPr>
          <a:xfrm>
            <a:off x="6675120" y="1572768"/>
            <a:ext cx="4937760" cy="2212848"/>
          </a:xfrm>
          <a:prstGeom prst="roundRect">
            <a:avLst>
              <a:gd name="adj" fmla="val 3306"/>
            </a:avLst>
          </a:prstGeom>
          <a:solidFill>
            <a:srgbClr val="FBF2E4"/>
          </a:solidFill>
          <a:ln w="12700">
            <a:solidFill>
              <a:srgbClr val="FBF2E4"/>
            </a:solidFill>
            <a:prstDash val="solid"/>
          </a:ln>
          <a:effectLst>
            <a:outerShdw sx="100000" sy="100000" kx="0" ky="0" algn="bl" rotWithShape="0" blurRad="76200" dist="508" dir="5400000">
              <a:srgbClr val="999999">
                <a:alpha val="10000"/>
              </a:srgbClr>
            </a:outerShdw>
          </a:effectLst>
        </p:spPr>
      </p:sp>
      <p:sp>
        <p:nvSpPr>
          <p:cNvPr id="7" name="Text 4"/>
          <p:cNvSpPr/>
          <p:nvPr/>
        </p:nvSpPr>
        <p:spPr>
          <a:xfrm>
            <a:off x="6903720" y="1709928"/>
            <a:ext cx="448056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8A601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number worth your attention</a:t>
            </a:r>
            <a:endParaRPr lang="en-US" sz="1350" dirty="0"/>
          </a:p>
        </p:txBody>
      </p:sp>
      <p:sp>
        <p:nvSpPr>
          <p:cNvPr id="8" name="Text 5"/>
          <p:cNvSpPr/>
          <p:nvPr/>
        </p:nvSpPr>
        <p:spPr>
          <a:xfrm>
            <a:off x="6903720" y="2029968"/>
            <a:ext cx="448056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8A601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52.5%</a:t>
            </a:r>
            <a:endParaRPr lang="en-US" sz="4000" dirty="0"/>
          </a:p>
        </p:txBody>
      </p:sp>
      <p:sp>
        <p:nvSpPr>
          <p:cNvPr id="9" name="Text 6"/>
          <p:cNvSpPr/>
          <p:nvPr/>
        </p:nvSpPr>
        <p:spPr>
          <a:xfrm>
            <a:off x="6903720" y="2670048"/>
            <a:ext cx="448056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2B2B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of covered schools would land in a different rigor tier if federal civil-rights data became unavailable and we fell back to your data alone.</a:t>
            </a:r>
            <a:endParaRPr lang="en-US" sz="1200" dirty="0"/>
          </a:p>
        </p:txBody>
      </p:sp>
      <p:sp>
        <p:nvSpPr>
          <p:cNvPr id="10" name="Shape 7"/>
          <p:cNvSpPr/>
          <p:nvPr/>
        </p:nvSpPr>
        <p:spPr>
          <a:xfrm>
            <a:off x="6675120" y="3913632"/>
            <a:ext cx="4937760" cy="1783080"/>
          </a:xfrm>
          <a:prstGeom prst="roundRect">
            <a:avLst>
              <a:gd name="adj" fmla="val 4103"/>
            </a:avLst>
          </a:prstGeom>
          <a:solidFill>
            <a:srgbClr val="EDF3EE"/>
          </a:solidFill>
          <a:ln w="12700">
            <a:solidFill>
              <a:srgbClr val="EDF3EE"/>
            </a:solidFill>
            <a:prstDash val="solid"/>
          </a:ln>
          <a:effectLst>
            <a:outerShdw sx="100000" sy="100000" kx="0" ky="0" algn="bl" rotWithShape="0" blurRad="76200" dist="508" dir="5400000">
              <a:srgbClr val="999999">
                <a:alpha val="10000"/>
              </a:srgbClr>
            </a:outerShdw>
          </a:effectLst>
        </p:spPr>
      </p:sp>
      <p:sp>
        <p:nvSpPr>
          <p:cNvPr id="11" name="Text 8"/>
          <p:cNvSpPr/>
          <p:nvPr/>
        </p:nvSpPr>
        <p:spPr>
          <a:xfrm>
            <a:off x="6903720" y="4050792"/>
            <a:ext cx="44805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2C5F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And one reassuring one</a:t>
            </a:r>
            <a:endParaRPr lang="en-US" sz="1350" dirty="0"/>
          </a:p>
        </p:txBody>
      </p:sp>
      <p:sp>
        <p:nvSpPr>
          <p:cNvPr id="12" name="Text 9"/>
          <p:cNvSpPr/>
          <p:nvPr/>
        </p:nvSpPr>
        <p:spPr>
          <a:xfrm>
            <a:off x="6903720" y="4370832"/>
            <a:ext cx="448056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2B2B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tier isn't simply re-deriving family income: its correlation with child poverty is −0.07 and with school funding 0.03–0.08. Weak, and in the directions you'd expect.</a:t>
            </a:r>
            <a:endParaRPr lang="en-US" sz="12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331A5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1920240" y="5394960"/>
            <a:ext cx="3291840" cy="3291840"/>
          </a:xfrm>
          <a:prstGeom prst="ellipse">
            <a:avLst/>
          </a:prstGeom>
          <a:solidFill>
            <a:srgbClr val="4E2A84"/>
          </a:solidFill>
          <a:ln/>
        </p:spPr>
      </p:sp>
      <p:sp>
        <p:nvSpPr>
          <p:cNvPr id="3" name="Text 1"/>
          <p:cNvSpPr/>
          <p:nvPr/>
        </p:nvSpPr>
        <p:spPr>
          <a:xfrm>
            <a:off x="640080" y="384048"/>
            <a:ext cx="100584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3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What we need from you</a:t>
            </a:r>
            <a:endParaRPr lang="en-US" sz="3300" dirty="0"/>
          </a:p>
        </p:txBody>
      </p:sp>
      <p:sp>
        <p:nvSpPr>
          <p:cNvPr id="4" name="Text 2"/>
          <p:cNvSpPr/>
          <p:nvPr/>
        </p:nvSpPr>
        <p:spPr>
          <a:xfrm>
            <a:off x="640080" y="1005840"/>
            <a:ext cx="10058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i="1" dirty="0">
                <a:solidFill>
                  <a:srgbClr val="B9AF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Ordered by how much each is holding us up</a:t>
            </a:r>
            <a:endParaRPr lang="en-US" sz="1350" dirty="0"/>
          </a:p>
        </p:txBody>
      </p:sp>
      <p:sp>
        <p:nvSpPr>
          <p:cNvPr id="5" name="Shape 3"/>
          <p:cNvSpPr/>
          <p:nvPr/>
        </p:nvSpPr>
        <p:spPr>
          <a:xfrm>
            <a:off x="640080" y="1554480"/>
            <a:ext cx="10881360" cy="969264"/>
          </a:xfrm>
          <a:prstGeom prst="roundRect">
            <a:avLst>
              <a:gd name="adj" fmla="val 7547"/>
            </a:avLst>
          </a:prstGeom>
          <a:solidFill>
            <a:srgbClr val="43276F"/>
          </a:solidFill>
          <a:ln w="12700">
            <a:solidFill>
              <a:srgbClr val="43276F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868680" y="1828800"/>
            <a:ext cx="420624" cy="420624"/>
          </a:xfrm>
          <a:prstGeom prst="ellipse">
            <a:avLst/>
          </a:prstGeom>
          <a:solidFill>
            <a:srgbClr val="D9A441"/>
          </a:solidFill>
          <a:ln/>
        </p:spPr>
      </p:sp>
      <p:sp>
        <p:nvSpPr>
          <p:cNvPr id="7" name="Text 5"/>
          <p:cNvSpPr/>
          <p:nvPr/>
        </p:nvSpPr>
        <p:spPr>
          <a:xfrm>
            <a:off x="868680" y="1828800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331A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500" dirty="0"/>
          </a:p>
        </p:txBody>
      </p:sp>
      <p:sp>
        <p:nvSpPr>
          <p:cNvPr id="8" name="Text 6"/>
          <p:cNvSpPr/>
          <p:nvPr/>
        </p:nvSpPr>
        <p:spPr>
          <a:xfrm>
            <a:off x="1463040" y="1673352"/>
            <a:ext cx="76809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Measurement dates for your 56 fields</a:t>
            </a:r>
            <a:endParaRPr lang="en-US" sz="1450" dirty="0"/>
          </a:p>
        </p:txBody>
      </p:sp>
      <p:sp>
        <p:nvSpPr>
          <p:cNvPr id="9" name="Text 7"/>
          <p:cNvSpPr/>
          <p:nvPr/>
        </p:nvSpPr>
        <p:spPr>
          <a:xfrm>
            <a:off x="1463040" y="1993392"/>
            <a:ext cx="79552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C6BB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When was each statistic actually measured — average SAT, AP participation, and so on? We have the export date, not the measurement dates.</a:t>
            </a:r>
            <a:endParaRPr lang="en-US" sz="1150" dirty="0"/>
          </a:p>
        </p:txBody>
      </p:sp>
      <p:sp>
        <p:nvSpPr>
          <p:cNvPr id="10" name="Text 8"/>
          <p:cNvSpPr/>
          <p:nvPr/>
        </p:nvSpPr>
        <p:spPr>
          <a:xfrm>
            <a:off x="9601200" y="1856232"/>
            <a:ext cx="1737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50" b="1" dirty="0">
                <a:solidFill>
                  <a:srgbClr val="D9A4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Blocking</a:t>
            </a:r>
            <a:endParaRPr lang="en-US" sz="1150" dirty="0"/>
          </a:p>
        </p:txBody>
      </p:sp>
      <p:sp>
        <p:nvSpPr>
          <p:cNvPr id="11" name="Shape 9"/>
          <p:cNvSpPr/>
          <p:nvPr/>
        </p:nvSpPr>
        <p:spPr>
          <a:xfrm>
            <a:off x="640080" y="2688336"/>
            <a:ext cx="10881360" cy="969264"/>
          </a:xfrm>
          <a:prstGeom prst="roundRect">
            <a:avLst>
              <a:gd name="adj" fmla="val 7547"/>
            </a:avLst>
          </a:prstGeom>
          <a:solidFill>
            <a:srgbClr val="43276F"/>
          </a:solidFill>
          <a:ln w="12700">
            <a:solidFill>
              <a:srgbClr val="43276F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868680" y="2962656"/>
            <a:ext cx="420624" cy="420624"/>
          </a:xfrm>
          <a:prstGeom prst="ellipse">
            <a:avLst/>
          </a:prstGeom>
          <a:solidFill>
            <a:srgbClr val="D9A441"/>
          </a:solidFill>
          <a:ln/>
        </p:spPr>
      </p:sp>
      <p:sp>
        <p:nvSpPr>
          <p:cNvPr id="13" name="Text 11"/>
          <p:cNvSpPr/>
          <p:nvPr/>
        </p:nvSpPr>
        <p:spPr>
          <a:xfrm>
            <a:off x="868680" y="2962656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331A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500" dirty="0"/>
          </a:p>
        </p:txBody>
      </p:sp>
      <p:sp>
        <p:nvSpPr>
          <p:cNvPr id="14" name="Text 12"/>
          <p:cNvSpPr/>
          <p:nvPr/>
        </p:nvSpPr>
        <p:spPr>
          <a:xfrm>
            <a:off x="1463040" y="2807208"/>
            <a:ext cx="76809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Sign-off on the funding estimate</a:t>
            </a:r>
            <a:endParaRPr lang="en-US" sz="1450" dirty="0"/>
          </a:p>
        </p:txBody>
      </p:sp>
      <p:sp>
        <p:nvSpPr>
          <p:cNvPr id="15" name="Text 13"/>
          <p:cNvSpPr/>
          <p:nvPr/>
        </p:nvSpPr>
        <p:spPr>
          <a:xfrm>
            <a:off x="1463040" y="3127248"/>
            <a:ext cx="79552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C6BB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Is district revenue divided by school-age population an acceptable national stand-in for per-pupil spending? Illinois has a true figure; the national one is an estimate.</a:t>
            </a:r>
            <a:endParaRPr lang="en-US" sz="1150" dirty="0"/>
          </a:p>
        </p:txBody>
      </p:sp>
      <p:sp>
        <p:nvSpPr>
          <p:cNvPr id="16" name="Text 14"/>
          <p:cNvSpPr/>
          <p:nvPr/>
        </p:nvSpPr>
        <p:spPr>
          <a:xfrm>
            <a:off x="9601200" y="2990088"/>
            <a:ext cx="1737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50" b="1" dirty="0">
                <a:solidFill>
                  <a:srgbClr val="D9A4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Decision</a:t>
            </a:r>
            <a:endParaRPr lang="en-US" sz="1150" dirty="0"/>
          </a:p>
        </p:txBody>
      </p:sp>
      <p:sp>
        <p:nvSpPr>
          <p:cNvPr id="17" name="Shape 15"/>
          <p:cNvSpPr/>
          <p:nvPr/>
        </p:nvSpPr>
        <p:spPr>
          <a:xfrm>
            <a:off x="640080" y="3822192"/>
            <a:ext cx="10881360" cy="969264"/>
          </a:xfrm>
          <a:prstGeom prst="roundRect">
            <a:avLst>
              <a:gd name="adj" fmla="val 7547"/>
            </a:avLst>
          </a:prstGeom>
          <a:solidFill>
            <a:srgbClr val="43276F"/>
          </a:solidFill>
          <a:ln w="12700">
            <a:solidFill>
              <a:srgbClr val="43276F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868680" y="4096512"/>
            <a:ext cx="420624" cy="420624"/>
          </a:xfrm>
          <a:prstGeom prst="ellipse">
            <a:avLst/>
          </a:prstGeom>
          <a:solidFill>
            <a:srgbClr val="D9A441"/>
          </a:solidFill>
          <a:ln/>
        </p:spPr>
      </p:sp>
      <p:sp>
        <p:nvSpPr>
          <p:cNvPr id="19" name="Text 17"/>
          <p:cNvSpPr/>
          <p:nvPr/>
        </p:nvSpPr>
        <p:spPr>
          <a:xfrm>
            <a:off x="868680" y="4096512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331A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500" dirty="0"/>
          </a:p>
        </p:txBody>
      </p:sp>
      <p:sp>
        <p:nvSpPr>
          <p:cNvPr id="20" name="Text 18"/>
          <p:cNvSpPr/>
          <p:nvPr/>
        </p:nvSpPr>
        <p:spPr>
          <a:xfrm>
            <a:off x="1463040" y="3941064"/>
            <a:ext cx="76809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tie-breaker rule for AP data</a:t>
            </a:r>
            <a:endParaRPr lang="en-US" sz="1450" dirty="0"/>
          </a:p>
        </p:txBody>
      </p:sp>
      <p:sp>
        <p:nvSpPr>
          <p:cNvPr id="21" name="Text 19"/>
          <p:cNvSpPr/>
          <p:nvPr/>
        </p:nvSpPr>
        <p:spPr>
          <a:xfrm>
            <a:off x="1463040" y="4261104"/>
            <a:ext cx="79552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C6BB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When the federal AP figures and yours disagree, which one wins — or do we carry both?</a:t>
            </a:r>
            <a:endParaRPr lang="en-US" sz="1150" dirty="0"/>
          </a:p>
        </p:txBody>
      </p:sp>
      <p:sp>
        <p:nvSpPr>
          <p:cNvPr id="22" name="Text 20"/>
          <p:cNvSpPr/>
          <p:nvPr/>
        </p:nvSpPr>
        <p:spPr>
          <a:xfrm>
            <a:off x="9601200" y="4123944"/>
            <a:ext cx="1737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50" b="1" dirty="0">
                <a:solidFill>
                  <a:srgbClr val="D9A4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Decision</a:t>
            </a:r>
            <a:endParaRPr lang="en-US" sz="1150" dirty="0"/>
          </a:p>
        </p:txBody>
      </p:sp>
      <p:sp>
        <p:nvSpPr>
          <p:cNvPr id="23" name="Shape 21"/>
          <p:cNvSpPr/>
          <p:nvPr/>
        </p:nvSpPr>
        <p:spPr>
          <a:xfrm>
            <a:off x="640080" y="4956048"/>
            <a:ext cx="10881360" cy="969264"/>
          </a:xfrm>
          <a:prstGeom prst="roundRect">
            <a:avLst>
              <a:gd name="adj" fmla="val 7547"/>
            </a:avLst>
          </a:prstGeom>
          <a:solidFill>
            <a:srgbClr val="43276F"/>
          </a:solidFill>
          <a:ln w="12700">
            <a:solidFill>
              <a:srgbClr val="43276F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868680" y="5230368"/>
            <a:ext cx="420624" cy="420624"/>
          </a:xfrm>
          <a:prstGeom prst="ellipse">
            <a:avLst/>
          </a:prstGeom>
          <a:solidFill>
            <a:srgbClr val="D9A441"/>
          </a:solidFill>
          <a:ln/>
        </p:spPr>
      </p:sp>
      <p:sp>
        <p:nvSpPr>
          <p:cNvPr id="25" name="Text 23"/>
          <p:cNvSpPr/>
          <p:nvPr/>
        </p:nvSpPr>
        <p:spPr>
          <a:xfrm>
            <a:off x="868680" y="5230368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331A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500" dirty="0"/>
          </a:p>
        </p:txBody>
      </p:sp>
      <p:sp>
        <p:nvSpPr>
          <p:cNvPr id="26" name="Text 24"/>
          <p:cNvSpPr/>
          <p:nvPr/>
        </p:nvSpPr>
        <p:spPr>
          <a:xfrm>
            <a:off x="1463040" y="5074920"/>
            <a:ext cx="76809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College Board institutional access</a:t>
            </a:r>
            <a:endParaRPr lang="en-US" sz="1450" dirty="0"/>
          </a:p>
        </p:txBody>
      </p:sp>
      <p:sp>
        <p:nvSpPr>
          <p:cNvPr id="27" name="Text 25"/>
          <p:cNvSpPr/>
          <p:nvPr/>
        </p:nvSpPr>
        <p:spPr>
          <a:xfrm>
            <a:off x="1463040" y="5394960"/>
            <a:ext cx="79552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C6BB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Still on your side. Until it lands, AP data stays national and state-level only — nothing school-by-school.</a:t>
            </a:r>
            <a:endParaRPr lang="en-US" sz="1150" dirty="0"/>
          </a:p>
        </p:txBody>
      </p:sp>
      <p:sp>
        <p:nvSpPr>
          <p:cNvPr id="28" name="Text 26"/>
          <p:cNvSpPr/>
          <p:nvPr/>
        </p:nvSpPr>
        <p:spPr>
          <a:xfrm>
            <a:off x="9601200" y="5257800"/>
            <a:ext cx="1737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50" b="1" dirty="0">
                <a:solidFill>
                  <a:srgbClr val="D9A4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Carried over</a:t>
            </a:r>
            <a:endParaRPr lang="en-US" sz="1150" dirty="0"/>
          </a:p>
        </p:txBody>
      </p:sp>
      <p:sp>
        <p:nvSpPr>
          <p:cNvPr id="29" name="Text 27"/>
          <p:cNvSpPr/>
          <p:nvPr/>
        </p:nvSpPr>
        <p:spPr>
          <a:xfrm>
            <a:off x="640080" y="6217920"/>
            <a:ext cx="10881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9C93A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Separately: 11 more measurement-date questions are for Sheng, and the federal ID re-pull is ours — noted so neither looks like a gap on your side.</a:t>
            </a:r>
            <a:endParaRPr lang="en-US" sz="11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110642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2B2B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Next two weeks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548640" y="1005840"/>
            <a:ext cx="11064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i="1" dirty="0">
                <a:solidFill>
                  <a:srgbClr val="6E6E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we do regardless, and what's waiting on answers</a:t>
            </a:r>
            <a:endParaRPr lang="en-US" sz="1350" dirty="0"/>
          </a:p>
        </p:txBody>
      </p:sp>
      <p:sp>
        <p:nvSpPr>
          <p:cNvPr id="4" name="Shape 2"/>
          <p:cNvSpPr/>
          <p:nvPr/>
        </p:nvSpPr>
        <p:spPr>
          <a:xfrm>
            <a:off x="548640" y="1627632"/>
            <a:ext cx="5394960" cy="3520440"/>
          </a:xfrm>
          <a:prstGeom prst="roundRect">
            <a:avLst>
              <a:gd name="adj" fmla="val 2078"/>
            </a:avLst>
          </a:prstGeom>
          <a:solidFill>
            <a:srgbClr val="F6F4F9"/>
          </a:solidFill>
          <a:ln w="12700">
            <a:solidFill>
              <a:srgbClr val="F6F4F9"/>
            </a:solidFill>
            <a:prstDash val="solid"/>
          </a:ln>
          <a:effectLst>
            <a:outerShdw sx="100000" sy="100000" kx="0" ky="0" algn="bl" rotWithShape="0" blurRad="76200" dist="508" dir="5400000">
              <a:srgbClr val="999999">
                <a:alpha val="10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822960" y="1783080"/>
            <a:ext cx="4846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50" b="1" dirty="0">
                <a:solidFill>
                  <a:srgbClr val="4E2A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Moving regardless</a:t>
            </a:r>
            <a:endParaRPr lang="en-US" sz="1650" dirty="0"/>
          </a:p>
        </p:txBody>
      </p:sp>
      <p:sp>
        <p:nvSpPr>
          <p:cNvPr id="6" name="Text 4"/>
          <p:cNvSpPr/>
          <p:nvPr/>
        </p:nvSpPr>
        <p:spPr>
          <a:xfrm>
            <a:off x="868680" y="2139696"/>
            <a:ext cx="4754880" cy="2880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1100"/>
              </a:spcAft>
              <a:buSzPct val="100000"/>
              <a:buChar char="•"/>
            </a:pPr>
            <a:r>
              <a:rPr lang="en-US" sz="1250" dirty="0">
                <a:solidFill>
                  <a:srgbClr val="2B2B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Re-pull the federal school file with full-length IDs — unblocks district funding for every public school</a:t>
            </a:r>
            <a:endParaRPr lang="en-US" sz="1250" dirty="0"/>
          </a:p>
          <a:p>
            <a:pPr marL="342900" indent="-342900">
              <a:spcAft>
                <a:spcPts val="1100"/>
              </a:spcAft>
              <a:buSzPct val="100000"/>
              <a:buChar char="•"/>
            </a:pPr>
            <a:r>
              <a:rPr lang="en-US" sz="1250" dirty="0">
                <a:solidFill>
                  <a:srgbClr val="2B2B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Second pass on the rigor tier cut-points (currently even fifths — transparent, but an arbitrary choice)</a:t>
            </a:r>
            <a:endParaRPr lang="en-US" sz="1250" dirty="0"/>
          </a:p>
          <a:p>
            <a:pPr marL="342900" indent="-342900">
              <a:spcAft>
                <a:spcPts val="1100"/>
              </a:spcAft>
              <a:buSzPct val="100000"/>
              <a:buChar char="•"/>
            </a:pPr>
            <a:r>
              <a:rPr lang="en-US" sz="1250" dirty="0">
                <a:solidFill>
                  <a:srgbClr val="2B2B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Widen clustering coverage beyond the 17% of schools with complete data on all features</a:t>
            </a:r>
            <a:endParaRPr lang="en-US" sz="1250" dirty="0"/>
          </a:p>
          <a:p>
            <a:pPr marL="342900" indent="-342900">
              <a:spcAft>
                <a:spcPts val="1100"/>
              </a:spcAft>
              <a:buSzPct val="100000"/>
              <a:buChar char="•"/>
            </a:pPr>
            <a:r>
              <a:rPr lang="en-US" sz="1250" dirty="0">
                <a:solidFill>
                  <a:srgbClr val="2B2B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Decide how to report the schools we can't score at all, rather than dropping them silently</a:t>
            </a:r>
            <a:endParaRPr lang="en-US" sz="1250" dirty="0"/>
          </a:p>
        </p:txBody>
      </p:sp>
      <p:sp>
        <p:nvSpPr>
          <p:cNvPr id="7" name="Shape 5"/>
          <p:cNvSpPr/>
          <p:nvPr/>
        </p:nvSpPr>
        <p:spPr>
          <a:xfrm>
            <a:off x="6217920" y="1627632"/>
            <a:ext cx="5394960" cy="3520440"/>
          </a:xfrm>
          <a:prstGeom prst="roundRect">
            <a:avLst>
              <a:gd name="adj" fmla="val 2078"/>
            </a:avLst>
          </a:prstGeom>
          <a:solidFill>
            <a:srgbClr val="E7E0F0"/>
          </a:solidFill>
          <a:ln w="12700">
            <a:solidFill>
              <a:srgbClr val="E7E0F0"/>
            </a:solidFill>
            <a:prstDash val="solid"/>
          </a:ln>
          <a:effectLst>
            <a:outerShdw sx="100000" sy="100000" kx="0" ky="0" algn="bl" rotWithShape="0" blurRad="76200" dist="508" dir="5400000">
              <a:srgbClr val="999999">
                <a:alpha val="10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6492240" y="1783080"/>
            <a:ext cx="4846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50" b="1" dirty="0">
                <a:solidFill>
                  <a:srgbClr val="331A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Waiting on you</a:t>
            </a:r>
            <a:endParaRPr lang="en-US" sz="1650" dirty="0"/>
          </a:p>
        </p:txBody>
      </p:sp>
      <p:sp>
        <p:nvSpPr>
          <p:cNvPr id="9" name="Text 7"/>
          <p:cNvSpPr/>
          <p:nvPr/>
        </p:nvSpPr>
        <p:spPr>
          <a:xfrm>
            <a:off x="6537960" y="2139696"/>
            <a:ext cx="4754880" cy="2880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1100"/>
              </a:spcAft>
              <a:buSzPct val="100000"/>
              <a:buChar char="•"/>
            </a:pPr>
            <a:r>
              <a:rPr lang="en-US" sz="1250" dirty="0">
                <a:solidFill>
                  <a:srgbClr val="2B2B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Measurement dates — so the dictionary stops reading "not confirmed"</a:t>
            </a:r>
            <a:endParaRPr lang="en-US" sz="1250" dirty="0"/>
          </a:p>
          <a:p>
            <a:pPr marL="342900" indent="-342900">
              <a:spcAft>
                <a:spcPts val="1100"/>
              </a:spcAft>
              <a:buSzPct val="100000"/>
              <a:buChar char="•"/>
            </a:pPr>
            <a:r>
              <a:rPr lang="en-US" sz="1250" dirty="0">
                <a:solidFill>
                  <a:srgbClr val="2B2B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Funding sign-off — Goal 4 either ships nationally or stays Illinois-only</a:t>
            </a:r>
            <a:endParaRPr lang="en-US" sz="1250" dirty="0"/>
          </a:p>
          <a:p>
            <a:pPr marL="342900" indent="-342900">
              <a:spcAft>
                <a:spcPts val="1100"/>
              </a:spcAft>
              <a:buSzPct val="100000"/>
              <a:buChar char="•"/>
            </a:pPr>
            <a:r>
              <a:rPr lang="en-US" sz="1250" dirty="0">
                <a:solidFill>
                  <a:srgbClr val="2B2B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 tie-breaker — determines what feeds the rigor score</a:t>
            </a:r>
            <a:endParaRPr lang="en-US" sz="1250" dirty="0"/>
          </a:p>
          <a:p>
            <a:pPr marL="342900" indent="-342900">
              <a:spcAft>
                <a:spcPts val="1100"/>
              </a:spcAft>
              <a:buSzPct val="100000"/>
              <a:buChar char="•"/>
            </a:pPr>
            <a:r>
              <a:rPr lang="en-US" sz="1250" dirty="0">
                <a:solidFill>
                  <a:srgbClr val="2B2B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Dictionary review from you and Adam — catches anything mislabeled before it propagates</a:t>
            </a:r>
            <a:endParaRPr lang="en-US" sz="1250" dirty="0"/>
          </a:p>
        </p:txBody>
      </p:sp>
      <p:sp>
        <p:nvSpPr>
          <p:cNvPr id="10" name="Text 8"/>
          <p:cNvSpPr/>
          <p:nvPr/>
        </p:nvSpPr>
        <p:spPr>
          <a:xfrm>
            <a:off x="548640" y="5349240"/>
            <a:ext cx="110642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i="1" dirty="0">
                <a:solidFill>
                  <a:srgbClr val="6E6E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Working principle: sources disagree and get more useful over time — so every merge carries a match rate, a source, and an as-of date rather than one silent answer.</a:t>
            </a:r>
            <a:endParaRPr lang="en-US" sz="12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11</Slides>
  <Notes>11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14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2026-07-20T12:38:24Z</dcterms:created>
  <dcterms:modified xsi:type="dcterms:W3CDTF">2026-07-20T12:38:24Z</dcterms:modified>
</cp:coreProperties>
</file>