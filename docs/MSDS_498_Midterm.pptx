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pitch: admissions lost its standardized school-context tool, and we rebuilt one from public data that anyone can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here: we measure schools, not students, and there is no admissions outcome in this data. The student-level version is the handoff, not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a deliverable in its own right -- the client can re-run it when new CRDC or NCES vintages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entity-resolution problem. The three-way decision rule matters because forcing a binary match/no-match would quietly inject false links into everything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Qualifying density replaced mean AP score because a mean rewards gatekeeping -- a school that only lets its strongest students sit the exam posts a high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30% number is the answer to 'did following the literature actually matter?'. Equal weights move only 7%, so the index is stable to reasonable reweighting but genuinely sensitive to dropping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caveat to state out loud: these cuts are relative to our scored population, not an absolute standard. Re-run on a different population and they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results slide. Walk the four panels left to right: how many, how they differ on an input, then on two things the model never saw.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 'show me a school I know'. Having one on the slide beats improvising.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empirical result in the deck. Monotonic across all five tiers on a measure the index never 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converts a literature argument into our own evidence. If you only keep one methods-defense slide, keep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this model validates the index; it is not the deliverable. Predicting graduation is how we test that the construct carries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'why not just cluster to get the tiers?'. Because clustering gives unordered groups, and rigor is inherently ordinal -- plus no ground truth to name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'where is the model?' answer. Three layers, each doing a job the others cannot. The absence of a ground-truth label is the reason for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limitations is what buys credibility on the rest. Each one maps to an extension point in the NU handoff rather than a dead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handoff. The measure is built to be recalibrated against NU's internal outcomes, which is the natural continuation of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A1A1A"/>
                </a:solidFill>
                <a:latin typeface="Arial"/>
              </a:rPr>
              <a:t>An AI-Driven High School Rigor Classification</a:t>
            </a:r>
          </a:p>
          <a:p>
            <a:r>
              <a:rPr sz="1900" b="0">
                <a:solidFill>
                  <a:srgbClr val="555555"/>
                </a:solidFill>
                <a:latin typeface="Arial"/>
              </a:rPr>
              <a:t>MSDS 498 Capstone — Midterm  ·  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Capstone Team  ·  July 2026   (add team member names)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Problem &amp;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College Board discontinued Landscape (Sept 2025) — admissions lost standardized high-school context.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~25% of applicants arrive with no school-context profile (Bastedo et al., 2023).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The reader's problem: the same transcript means different things at different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Objective: a transparent, reproducible measure of a school's academic rigor — so a student's coursework can be read in the context of what their school actually offered.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Data &amp; reproducible pipeline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4766"/>
            <a:ext cx="7315200" cy="33828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Sources: NCES, CRDC 2021-22, Census F-33/SAIPE, NU export, IB, ISBE.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Pipeline: Dockerized ETL, re-runnable without engineering support (Boettiger, 2015).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Scale: ~34,000 high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Governance: per-variable data dictionary + source/vintage tracking (client requirement).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Record linkage without a shared identifier</a:t>
            </a:r>
          </a:p>
        </p:txBody>
      </p:sp>
      <p:pic>
        <p:nvPicPr>
          <p:cNvPr id="3" name="Picture 2" descr="match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89052"/>
            <a:ext cx="7315200" cy="17942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Problem: CEEB and NCES have no common key.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Decision rule: auto-accept / review / reject = Fellegi–Sunter three-way (1969).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Similarity: token-based over edit distance for school names (Cohen et al., 2003).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Reporting: match rates reported as a matter of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Feature engineering → the rigor index</a:t>
            </a:r>
          </a:p>
        </p:txBody>
      </p:sp>
      <p:pic>
        <p:nvPicPr>
          <p:cNvPr id="3" name="Picture 2" descr="index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39747"/>
            <a:ext cx="7315200" cy="3492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Form: a weighted composite index — transparent and decomposable, not a black box.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Principle: performance over availability (Geiser &amp; Santelices, 2004).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Structure: five components, per-row proportional weighting over available components.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Latest revision: AP qualifying density (expected passing exams per student) + a verified IB signal.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Nominal vs. effective weights</a:t>
            </a:r>
          </a:p>
        </p:txBody>
      </p:sp>
      <p:pic>
        <p:nvPicPr>
          <p:cNvPr id="3" name="Picture 2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41188"/>
            <a:ext cx="7315200" cy="28900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Issue: assigned weights ≠ actual influence when features correlate (CADRE, 2024).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Finding: AP performance leads the effective weight (~0.31); participation is absorbed.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Sensitivity: drop the performance components and 30% of schools change tier — the literature-driven change was not cosmetic.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Practice: both reported, across four weighting schemes.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From score to tiers — natural breaks</a:t>
            </a:r>
          </a:p>
        </p:txBody>
      </p:sp>
      <p:pic>
        <p:nvPicPr>
          <p:cNvPr id="3" name="Picture 2" descr="tier_cut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34653"/>
            <a:ext cx="7315200" cy="3703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Method: Jenks natural breaks (Jenks, 1967; Fisher, 1958) — cuts at gaps in the distribution.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Why not quantiles: Reardon cautions against splitting near-identical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Frame: norm-referenced (Glaser, 1963); criterion-referenced is the alternative (Cizek &amp; Bunch, 2007).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'Most Demanding' = 295 schools, not a forced top fifth.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Results — what each tier actually looks like</a:t>
            </a:r>
          </a:p>
        </p:txBody>
      </p:sp>
      <p:pic>
        <p:nvPicPr>
          <p:cNvPr id="3" name="Picture 2" descr="tie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33329"/>
            <a:ext cx="7315200" cy="23057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21,951 schools scored; 12,441 left unscored rather than imputed.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AP exam score rises 2.06 → 3.56 across tiers — an index input, so this is internal consistency.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SAT rises 1,066 → 1,288 — not an input, so this is external validation.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Graduation rate separates the bottom tier, then plateaus — reported as found.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What comes out, per school</a:t>
            </a:r>
          </a:p>
        </p:txBody>
      </p:sp>
      <p:pic>
        <p:nvPicPr>
          <p:cNvPr id="3" name="Picture 2" descr="school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71921"/>
            <a:ext cx="7315200" cy="30285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Deliverable: tier, score, percentile, and the components behind it — keyed on CEEB.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Decomposable by construction: no school gets a tier without a traceable reason.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Missingness surfaced: '4 of 5 components' is part of the output, not a footnote.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Face validity: known-selective schools land where domain experts expect.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Validation against independent outcomes</a:t>
            </a:r>
          </a:p>
        </p:txBody>
      </p:sp>
      <p:pic>
        <p:nvPicPr>
          <p:cNvPr id="3" name="Picture 2" descr="rigor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19167"/>
            <a:ext cx="7315200" cy="4734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SAT rises across tiers (1,066 → 1,288, a 222-point spread), no inversions — and never a model input.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Graduation rate sharply separates the bottom tier.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Honest finding: grad rate plateaus at the top — 'most demanding' means performance, not catalog size.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Face-validity audit across known schools as a qualitative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Why opportunity, not test scores</a:t>
            </a:r>
          </a:p>
        </p:txBody>
      </p:sp>
      <p:pic>
        <p:nvPicPr>
          <p:cNvPr id="3" name="Picture 2" descr="benchmarking_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08000"/>
            <a:ext cx="7315200" cy="27563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The obvious alternative: just rank schools by mean SAT. We tested that.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SAT correlates with county child poverty at −0.385; our tier, at −0.110.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So an outcome measure is ~3.5× more socioeconomically confounded than an opportunity measure.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This is empirical support for the design choice, not just a literature citation (Reardon / SEDA).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Predictive validation — the supervised model</a:t>
            </a:r>
          </a:p>
        </p:txBody>
      </p:sp>
      <p:pic>
        <p:nvPicPr>
          <p:cNvPr id="3" name="Picture 2" descr="predictiv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42540"/>
            <a:ext cx="7315200" cy="2687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Design: gradient boosting + linear; grad rate ~ opportunity, SES-controlled (Adelman; Reardon).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opportunity adds +0.05 R² beyond SES — stable across two specs, both model families.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Importance: free-lunch rate dominates (0.53) — the outcome is SES-driven…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…yet the index correlates with poverty only −0.11 → evidence it is not an SES proxy.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Unsupervised segments</a:t>
            </a:r>
          </a:p>
        </p:txBody>
      </p:sp>
      <p:pic>
        <p:nvPicPr>
          <p:cNvPr id="3" name="Picture 2" descr="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69767"/>
            <a:ext cx="7315200" cy="2832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K-means (k=4) + hierarchical over PCA components; region, academic profile, funding.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Deliberately excludes rigor_score — otherwise 'do the clusters match the tier?' is circular.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Finding: every cluster spans several tiers — segments describe a different cut of the data.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Limitation: 5,801 complete-case schools — the clustering universe is much smaller than the tiering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A three-layer modeling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Measurement model: the composite rigor index — the deliverable.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Unsupervised ML: K-means + hierarchical clustering with PCA — school segments.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Supervised ML: gradient boosting predicting outcomes — validation, not the product.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Rationale: no ground-truth rigor label exists — so an auditable index, validated by ML.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Limitations (documented, not hidden)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Ecological inference: we measure the school, not the student.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Levels, not growth: Reardon's caution — we report the SES-confounding check.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Coverage: performance data ~35%, skewed to the recruiting universe.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Gaps: private-school blind spot (CRDC public-only); per-course AP scores unavailable.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Fragility: losing CRDC access would reshuffle ~40% of the CRDC-covered population.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Next steps (Weeks 7 →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Separate public/private tiering — different feature availability, different models.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Second-outcome validation (college-going), and a post-COVID graduation vintage.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Methodology handoff guide for NU integration.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Final report: methods, results, limitations.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