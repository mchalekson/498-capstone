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A1A1A"/>
                </a:solidFill>
                <a:latin typeface="Arial"/>
              </a:rPr>
              <a:t>An AI-Driven High School Rigor Classification</a:t>
            </a:r>
          </a:p>
          <a:p>
            <a:r>
              <a:rPr sz="1900" b="0">
                <a:solidFill>
                  <a:srgbClr val="555555"/>
                </a:solidFill>
                <a:latin typeface="Arial"/>
              </a:rPr>
              <a:t>MSDS 498 Capstone — Midterm  ·  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Capstone Team  ·  July 2026   (add team member names)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Problem &amp;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College Board discontinued Landscape (Sept 2025) — admissions lost standardized high-school context.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~25% of applicants arrive with no school-context profile (Bastedo et al., 2023).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Objective: a transparent, reproducible, defensible methodology to classify high-school rigor…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…built from public data, that NU can adopt and tie to its internal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Data &amp; reproducible pipeline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4766"/>
            <a:ext cx="7315200" cy="33828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Sources: NCES, CRDC 2021-22, Census F-33/SAIPE, NU export, IB, ISBE.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Pipeline: Dockerized ETL, re-runnable without engineering support (Boettiger, 2015).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Scale: ~34,000 high schools.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Governance: per-variable data dictionary + source/vintage tracking (client requirement).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Record linkage without a shared identifier</a:t>
            </a:r>
          </a:p>
        </p:txBody>
      </p:sp>
      <p:pic>
        <p:nvPicPr>
          <p:cNvPr id="3" name="Picture 2" descr="match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89052"/>
            <a:ext cx="7315200" cy="17942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Problem: CEEB and NCES have no common key.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Decision rule: auto-accept / review / reject = Fellegi–Sunter three-way (1969).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Similarity: token-based over edit distance for school names (Cohen et al., 2003).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Reporting: match rates reported as a matter of course.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Feature engineering → the rigor index</a:t>
            </a:r>
          </a:p>
        </p:txBody>
      </p:sp>
      <p:pic>
        <p:nvPicPr>
          <p:cNvPr id="3" name="Picture 2" descr="index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39747"/>
            <a:ext cx="7315200" cy="34929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Form: a weighted composite index — transparent and decomposable, not a black box.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Principle: performance over availability (Geiser &amp; Santelices, 2004).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Structure: five components, per-row proportional weighting over available components.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v4: adds AP qualifying density + verified IB intensity.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Nominal vs. effective weights</a:t>
            </a:r>
          </a:p>
        </p:txBody>
      </p:sp>
      <p:pic>
        <p:nvPicPr>
          <p:cNvPr id="3" name="Picture 2" descr="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441188"/>
            <a:ext cx="7315200" cy="28900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Issue: assigned weights ≠ actual influence when features correlate (CADRE, 2024).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Finding: AP performance leads the effective weight (~0.31); participation is absorbed.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Practice: both reported, plus a sensitivity analysis across weighting schemes.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From score to tiers — natural breaks</a:t>
            </a:r>
          </a:p>
        </p:txBody>
      </p:sp>
      <p:pic>
        <p:nvPicPr>
          <p:cNvPr id="3" name="Picture 2" descr="tier_cut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3015"/>
            <a:ext cx="7315200" cy="33863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Method: Jenks natural breaks (Jenks, 1967; Fisher, 1958) — cuts at gaps in the distribution.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Why not quantiles: Reardon cautions against splitting near-identical schools.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Frame: norm-referenced (Glaser, 1963); criterion-referenced is the alternative (Cizek &amp; Bunch, 2007).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Result: 'Most Demanding' = 295 schools, not a forced top fifth.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Validation against independent outcomes</a:t>
            </a:r>
          </a:p>
        </p:txBody>
      </p:sp>
      <p:pic>
        <p:nvPicPr>
          <p:cNvPr id="3" name="Picture 2" descr="rigor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28949"/>
            <a:ext cx="7315200" cy="3914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SAT: rises across tiers (1052 → 1303), no inversions — and not a model input.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Grad rate: sharply separates the bottom tier.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Honest finding: grad rate/STEM plateau at the top — 'most demanding' = performance, not catalog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Predictive validation — the supervised model</a:t>
            </a:r>
          </a:p>
        </p:txBody>
      </p:sp>
      <p:pic>
        <p:nvPicPr>
          <p:cNvPr id="3" name="Picture 2" descr="predictiv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42540"/>
            <a:ext cx="7315200" cy="2687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Design: gradient boosting + linear; grad rate ~ opportunity, SES-controlled (Adelman; Reardon).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Result: opportunity adds +0.05 R² beyond SES — stable across two specs, both model families.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Importance: free-lunch rate dominates (0.53) — the outcome is SES-driven…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…yet the index correlates with poverty only −0.11 → evidence it is not an SES proxy.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A three-layer modeling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Measurement model: the composite rigor index (the deliverable).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Unsupervised ML: K-means + hierarchical clustering with PCA (school segments).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Supervised ML: gradient boosting predicting outcomes (validation).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Rationale: no ground-truth rigor label exists — so an auditable index, validated by ML.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Limitations (documented, not hidden)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Ecological inference: we measure the school, not the student.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Levels, not growth: Reardon's caution — we report the SES-confounding check.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Coverage: performance data ~35%, skewed to the recruiting universe.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Gaps: private-school blind spot (CRDC public-only); per-course AP scores unavailable.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Framing: most map onto NU's internal-data handoff — extension points, not dead ends.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Grounded in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Adelman (1999, 2006): curriculum intensity predicts degree completion.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Geiser &amp; Santelices (2004): exam performance predicts; availability does not.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Reardon / SEDA: levels reproduce SES — check for confounding.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Landscape / ECD: keep the indicators transparent.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Jenks/Fisher, Glaser, Cizek &amp; Bunch, Nardo et al.: the tiering methodology.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Next steps (Weeks 6 → 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Finalize v4 and commit its generation code (reproducibility).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Separate public/private tiering; second-outcome validation (college-going).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Methodology handoff guide for NU integration.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Final report: Methods, results, limitations.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