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2A84"/>
              </a:solidFill>
              <a:effectLst/>
            </c:spPr>
          </c:dPt>
          <c:dPt>
            <c:idx val="1"/>
            <c:bubble3D val="0"/>
            <c:spPr>
              <a:solidFill>
                <a:srgbClr val="55A8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Linked to the admissions list (21,359)</c:v>
                </c:pt>
                <c:pt idx="1">
                  <c:v>Newly identified schools (4,218)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21359</c:v>
                </c:pt>
                <c:pt idx="1">
                  <c:v>4218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67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E6779"/>
                </a:solidFill>
                <a:latin typeface="Arial"/>
              </a:rPr>
              <a:t>Five ingredient families, weighted by design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Designed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6ACD1"/>
              </a:solidFill>
              <a:effectLst/>
            </c:spPr>
          </c:dPt>
          <c:dPt>
            <c:idx val="1"/>
            <c:bubble3D val="0"/>
            <c:spPr>
              <a:solidFill>
                <a:srgbClr val="4E2A84"/>
              </a:solidFill>
              <a:effectLst/>
            </c:spPr>
          </c:dPt>
          <c:dPt>
            <c:idx val="2"/>
            <c:bubble3D val="0"/>
            <c:spPr>
              <a:solidFill>
                <a:srgbClr val="7B5EA7"/>
              </a:solidFill>
              <a:effectLst/>
            </c:spPr>
          </c:dPt>
          <c:dPt>
            <c:idx val="3"/>
            <c:bubble3D val="0"/>
            <c:spPr>
              <a:solidFill>
                <a:srgbClr val="55A868"/>
              </a:solidFill>
              <a:effectLst/>
            </c:spPr>
          </c:dPt>
          <c:dPt>
            <c:idx val="4"/>
            <c:bubble3D val="0"/>
            <c:spPr>
              <a:solidFill>
                <a:srgbClr val="D8D3E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AP opportunity (25%)</c:v>
                </c:pt>
                <c:pt idx="1">
                  <c:v>AP performance (20%)</c:v>
                </c:pt>
                <c:pt idx="2">
                  <c:v>Advanced coursework + IB (20%)</c:v>
                </c:pt>
                <c:pt idx="3">
                  <c:v>Test performance (20%)</c:v>
                </c:pt>
                <c:pt idx="4">
                  <c:v>Test participation (15%)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Schools per tier</c:v>
                </c:pt>
              </c:strCache>
            </c:strRef>
          </c:tx>
          <c:spPr>
            <a:solidFill>
              <a:srgbClr val="4E2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Below Average</c:v>
                  </c:pt>
                  <c:pt idx="1">
                    <c:v>Average</c:v>
                  </c:pt>
                  <c:pt idx="2">
                    <c:v>Demanding</c:v>
                  </c:pt>
                  <c:pt idx="3">
                    <c:v>Very Demanding</c:v>
                  </c:pt>
                  <c:pt idx="4">
                    <c:v>Most Demanding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3896</c:v>
                </c:pt>
                <c:pt idx="1">
                  <c:v>8905</c:v>
                </c:pt>
                <c:pt idx="2">
                  <c:v>6490</c:v>
                </c:pt>
                <c:pt idx="3">
                  <c:v>2365</c:v>
                </c:pt>
                <c:pt idx="4">
                  <c:v>295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67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E6779"/>
                </a:solidFill>
                <a:latin typeface="Arial"/>
              </a:rPr>
              <a:t>Link to community poverty  (closer to 0 = fairer)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community poverty</c:v>
                </c:pt>
              </c:strCache>
            </c:strRef>
          </c:tx>
          <c:spPr>
            <a:solidFill>
              <a:srgbClr val="B6ACD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AC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A86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Raw SAT scores</c:v>
                  </c:pt>
                  <c:pt idx="1">
                    <c:v>Our rigor tier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-0.39</c:v>
                </c:pt>
                <c:pt idx="1">
                  <c:v>-0.11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220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206240" cy="4206240"/>
          </a:xfrm>
          <a:prstGeom prst="ellipse">
            <a:avLst/>
          </a:prstGeom>
          <a:solidFill>
            <a:srgbClr val="4E2A8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4023360" cy="4023360"/>
          </a:xfrm>
          <a:prstGeom prst="ellipse">
            <a:avLst/>
          </a:prstGeom>
          <a:solidFill>
            <a:srgbClr val="32204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234440"/>
            <a:ext cx="777240" cy="7772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14365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Capstone Midterm Report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6A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U.S. high school, one trusted picture -- a complete, fair, and refreshable intelligence platform for undergraduate admissions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498 Capstone — Midterm  · 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76" y="18628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73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everything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0756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reads applicants through their high school -- but reference data is fragmented across a dozen systems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862072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03324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843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has blind spots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645920" y="32461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in-house school list grew organically for decades: rich where NU recruits, silent everywhere else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85800" y="4032504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6" y="4203680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014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a gap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645920" y="44165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withdrew Landscape in 2019 -- no transparent replacement exists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5800" y="5202936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6" y="5374112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184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is right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645920" y="55869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open data now makes a verified, national, annually refreshable picture possible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It: Six Families of Sources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2148840" y="2560320"/>
            <a:ext cx="3931920" cy="45720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080760" y="2560320"/>
            <a:ext cx="0" cy="45720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H="1">
            <a:off x="6080760" y="2560320"/>
            <a:ext cx="3931920" cy="45720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2148840" y="4160520"/>
            <a:ext cx="3931920" cy="54864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>
            <a:off x="6080760" y="4160520"/>
            <a:ext cx="0" cy="54864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080760" y="4160520"/>
            <a:ext cx="3931920" cy="548640"/>
          </a:xfrm>
          <a:prstGeom prst="line">
            <a:avLst/>
          </a:prstGeom>
          <a:noFill/>
          <a:ln w="19050">
            <a:solidFill>
              <a:srgbClr val="CFC8D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15544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178308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92572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education data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173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NCES · CRDC · EDFacts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15544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45152" y="178308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2572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Board world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3492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CEEB codes · AP data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412480" y="15544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577072" y="178308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18" y="1925726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28116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Organization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928116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authorizations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470916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232" y="493776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" y="5080406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4818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local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417320" y="5212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report card · CPS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480560" y="470916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45152" y="493776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798" y="508040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49240" y="4818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community data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349240" y="5212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education · poverty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412480" y="470916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76200" dist="25400" dir="5400000">
              <a:srgbClr val="3A1F63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577072" y="4937760"/>
            <a:ext cx="548640" cy="548640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9718" y="5080406"/>
            <a:ext cx="263347" cy="26334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81160" y="4818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admissions export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9281160" y="5212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/ AP performance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480560" y="301752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4E2A84"/>
          </a:solidFill>
          <a:ln/>
          <a:effectLst>
            <a:outerShdw sx="100000" sy="100000" kx="0" ky="0" algn="bl" rotWithShape="0" blurRad="127000" dist="38100" dir="5400000">
              <a:srgbClr val="281A40">
                <a:alpha val="35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4480560" y="31729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Database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4480560" y="3639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6A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linked · refreshable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1051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25,577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77240" y="2820010"/>
            <a:ext cx="3108960" cy="799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U.S. high schools, public + private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81051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4572000" y="2820010"/>
            <a:ext cx="3108960" cy="799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per school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810512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8366760" y="2820010"/>
            <a:ext cx="3063240" cy="799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systems unified in one pipeline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EAE6F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427939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4178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identity, enrollment, coursework, outcomes, and community context for every school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EAE6F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2920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92861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admissions office's own knowledge (SAT / AP performance) merged in, not replaced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85800" y="5660136"/>
            <a:ext cx="457200" cy="457200"/>
          </a:xfrm>
          <a:prstGeom prst="ellipse">
            <a:avLst/>
          </a:prstGeom>
          <a:solidFill>
            <a:srgbClr val="EAE6F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7790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56784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refreshes everything when new data years are released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Plugs Into the Current Workflow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19456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83.5%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1945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96596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11" y="212287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9480" y="19659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links to the codes admissions already uses (CEEB)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0" y="320040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711" y="335731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3200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 handles renamings, abbreviations, district quirks; AI adjudicates edge cases -- fully audited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0" y="443484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711" y="4591751"/>
            <a:ext cx="289682" cy="2896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69480" y="4434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verified geographically: paired records agree to ~1 km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DISCOVERY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Schools No One Was Watching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37960" cy="3977640"/>
          </a:xfrm>
          <a:prstGeom prst="roundRect">
            <a:avLst>
              <a:gd name="adj" fmla="val 2299"/>
            </a:avLst>
          </a:prstGeom>
          <a:solidFill>
            <a:srgbClr val="F7F5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4,218 newly identified high schools</a:t>
            </a:r>
            <a:endParaRPr lang="en-US" sz="1500" dirty="0"/>
          </a:p>
        </p:txBody>
      </p:sp>
      <p:pic>
        <p:nvPicPr>
          <p:cNvPr id="7" name="Image 0" descr="/sessions/gallant-jolly-mayer/mnt/498-capstone/docs/fig/new_schools_by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603504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92024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271" y="207715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0" y="19202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 have 500+ students; 41 offer the IB Diploma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452360" y="315468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271" y="331159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1546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3,000-student suburban campuses opened in the early 2000s -- growth the list never caught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452360" y="438912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271" y="4546031"/>
            <a:ext cx="289682" cy="2896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21040" y="4389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ranked prospect list with academic profile attached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recruiting territory, discovered by connecting data the list never touched.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Rigor Score Is Built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566928" cy="56692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201" y="1930481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783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school offers AND how its students perform -- performance signals carry the most influence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0" y="2807208"/>
            <a:ext cx="566928" cy="56692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0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280720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never punishes: weights reallocate to what a school actually reports; no-signal schools stay unscored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0" y="3831336"/>
            <a:ext cx="566928" cy="56692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201" y="3978737"/>
            <a:ext cx="272125" cy="272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8040" y="383133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cut into five tiers at natural gaps in the distribution -- not forced quotas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0" y="4855464"/>
            <a:ext cx="566928" cy="56692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201" y="5002865"/>
            <a:ext cx="272125" cy="2721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485546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Stress-tested: alternate weightings barely reorder schools (rank agreement 0.97+)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transparent index in the academic tradition (Adelman) -- every school's score can be decomposed and explained.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Transparent Tiers of Academic Rigor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96596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271" y="2122871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1965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what schools offer and how students perform: AP, IB, dual enrollment, exams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452360" y="320040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271" y="3357311"/>
            <a:ext cx="289682" cy="289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1040" y="32004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transparent -- every tier can be explained to a counselor or a dean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452360" y="4434840"/>
            <a:ext cx="603504" cy="603504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271" y="4591751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21040" y="44348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'Most Demanding' is earned by ~1% of schools: a true national elite set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FAIRNESS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Measures Opportunity — Not Wealth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73736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96596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11" y="2122871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19659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largely mirror community wealth -- our tier barely does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0" y="320040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711" y="3357311"/>
            <a:ext cx="289682" cy="289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9480" y="32004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validated: what a school offers predicts real outcomes beyond demographics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0" y="4434840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711" y="4591751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69480" y="4434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transparent, defensible successor to what Landscape tried to be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Models We Use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76" y="189024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tiers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0" y="1682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index + natural-breaks tiering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1480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decomposes into visible ingredients -- deliberately not a black box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889504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06068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groupings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114800" y="2852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with PCA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14800" y="32735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families of similar schools across academics, funding, geography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059936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6" y="4231112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114800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(linear + gradient boosting)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114800" y="4443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index predicts real outcomes beyond demographics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5230368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6" y="540154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matching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114800" y="5193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AI adjudication (Claude)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114800" y="56144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resolve ~88%; AI judges the hard cases, fully audited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580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statistical models stay simple and explainable; AI is used only where judgment is needed -- and always leaves an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554480"/>
            <a:ext cx="3566160" cy="3566160"/>
          </a:xfrm>
          <a:prstGeom prst="ellipse">
            <a:avLst/>
          </a:prstGeom>
          <a:solidFill>
            <a:srgbClr val="EAE6F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E2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Take It Next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416" y="227429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20299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6AC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sign-off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client review of the v4 tiers before adoption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01568" y="182880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103120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344" y="227429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20299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6AC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3648456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list in use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48456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identified schools handed to recruiting, sorted by fit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54496" y="182880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83096" y="2103120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272" y="2274296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0456" y="20299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6AC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6501384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private-school data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01384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from published school profiles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07424" y="182880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  <a:effectLst>
            <a:outerShdw sx="100000" sy="100000" kx="0" ky="0" algn="bl" rotWithShape="0" blurRad="88900" dist="25400" dir="5400000">
              <a:srgbClr val="3A1F63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36024" y="2103120"/>
            <a:ext cx="658368" cy="658368"/>
          </a:xfrm>
          <a:prstGeom prst="ellipse">
            <a:avLst/>
          </a:prstGeom>
          <a:solidFill>
            <a:srgbClr val="4E2A8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200" y="2274296"/>
            <a:ext cx="316017" cy="31601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73384" y="20299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6AC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9354312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Annual-refresh automation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54312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update with an auto-generated change report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backlog: refresh COVID-era outcomes as new federal years publish; resolve source-system code issues with the data owner.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6400800" cy="6400800"/>
          </a:xfrm>
          <a:prstGeom prst="ellipse">
            <a:avLst/>
          </a:prstGeom>
          <a:solidFill>
            <a:srgbClr val="32204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31920"/>
            <a:ext cx="4297680" cy="4297680"/>
          </a:xfrm>
          <a:prstGeom prst="ellipse">
            <a:avLst/>
          </a:prstGeom>
          <a:solidFill>
            <a:srgbClr val="4E2A84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Next Step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650" dirty="0">
                <a:solidFill>
                  <a:srgbClr val="B6A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 -- national database, admissions-list integration, rigor tiers, discovery list.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650" dirty="0">
                <a:solidFill>
                  <a:srgbClr val="B6A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sign-off  ·  discovery list into recruiting hands  ·  annual-refresh automation.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498 Capstone — Midterm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2026-07-28T00:47:07Z</dcterms:created>
  <dcterms:modified xsi:type="dcterms:W3CDTF">2026-07-28T00:47:07Z</dcterms:modified>
</cp:coreProperties>
</file>