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114800" cy="41148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331720"/>
            <a:ext cx="1051560" cy="10515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366" y="2605126"/>
            <a:ext cx="504749" cy="5047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657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9D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CLASSIFICATION CAPSTONE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39776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EDA Status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77240" y="49834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3 update for Bob — architecture built, matching challenge solved, and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EDA tells us about classifying high school academic rigor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of 10   |   Capstone 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18608" cy="1417320"/>
          </a:xfrm>
          <a:prstGeom prst="roundRect">
            <a:avLst>
              <a:gd name="adj" fmla="val 5161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9888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1552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83080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00200" y="2167128"/>
            <a:ext cx="4038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3-layer data pipeline integrating 8 sources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24448" y="1600200"/>
            <a:ext cx="5318608" cy="1417320"/>
          </a:xfrm>
          <a:prstGeom prst="roundRect">
            <a:avLst>
              <a:gd name="adj" fmla="val 5161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53048" y="19888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468" y="21552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76008" y="1783080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ID-Matching Challenge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376008" y="2167128"/>
            <a:ext cx="4038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most sources need fuzzy matching, and how we handled it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337560"/>
            <a:ext cx="5318608" cy="1417320"/>
          </a:xfrm>
          <a:prstGeom prst="roundRect">
            <a:avLst>
              <a:gd name="adj" fmla="val 5161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7261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389260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520440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Still Needed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600200" y="3904488"/>
            <a:ext cx="4038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concrete asks — all owned outside engineering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324448" y="3337560"/>
            <a:ext cx="5318608" cy="1417320"/>
          </a:xfrm>
          <a:prstGeom prst="roundRect">
            <a:avLst>
              <a:gd name="adj" fmla="val 5161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53048" y="37261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468" y="389260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76008" y="3520440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Deliverables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376008" y="3904488"/>
            <a:ext cx="4038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against the proposed timeline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5074920"/>
            <a:ext cx="5318608" cy="1417320"/>
          </a:xfrm>
          <a:prstGeom prst="roundRect">
            <a:avLst>
              <a:gd name="adj" fmla="val 5161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77240" y="54635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1" y="562996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00200" y="5257800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 Rigor Framework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600200" y="5641848"/>
            <a:ext cx="4038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data we have to a rigor construct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324448" y="5074920"/>
            <a:ext cx="5318608" cy="1417320"/>
          </a:xfrm>
          <a:prstGeom prst="roundRect">
            <a:avLst>
              <a:gd name="adj" fmla="val 5161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53048" y="54635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9468" y="5629961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376008" y="5257800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&amp; Next Steps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7376008" y="5641848"/>
            <a:ext cx="4038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for the lit review, and the Week 4 preview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Classification Capstone  |  Week 3 Status Update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Built: A 3-Layer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(via Docker) — every table also exported to CSV for direct access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095348" y="169164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41168" y="1856232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7588" y="2022653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95348" y="25328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186788" y="27889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 per source, loaded as-is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936" y="2212848"/>
            <a:ext cx="329184" cy="3291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929988" y="169164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775808" y="1856232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228" y="2022653"/>
            <a:ext cx="307238" cy="3072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29988" y="25328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021428" y="27889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parsed, sentinels nulled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576" y="2212848"/>
            <a:ext cx="329184" cy="32918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764628" y="169164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610448" y="1856232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6868" y="2022653"/>
            <a:ext cx="307238" cy="30723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764628" y="25328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7856068" y="27889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at the school level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integrated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548640" y="3840480"/>
            <a:ext cx="3545738" cy="566928"/>
          </a:xfrm>
          <a:prstGeom prst="roundRect">
            <a:avLst>
              <a:gd name="adj" fmla="val 56452"/>
            </a:avLst>
          </a:prstGeom>
          <a:solidFill>
            <a:srgbClr val="EEF3FD"/>
          </a:solidFill>
          <a:ln/>
        </p:spPr>
      </p:sp>
      <p:sp>
        <p:nvSpPr>
          <p:cNvPr id="23" name="Text 16"/>
          <p:cNvSpPr/>
          <p:nvPr/>
        </p:nvSpPr>
        <p:spPr>
          <a:xfrm>
            <a:off x="685800" y="3840480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NCES public schools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322978" y="3840480"/>
            <a:ext cx="3545738" cy="566928"/>
          </a:xfrm>
          <a:prstGeom prst="roundRect">
            <a:avLst>
              <a:gd name="adj" fmla="val 56452"/>
            </a:avLst>
          </a:prstGeom>
          <a:solidFill>
            <a:srgbClr val="EEF3FD"/>
          </a:solidFill>
          <a:ln/>
        </p:spPr>
      </p:sp>
      <p:sp>
        <p:nvSpPr>
          <p:cNvPr id="25" name="Text 18"/>
          <p:cNvSpPr/>
          <p:nvPr/>
        </p:nvSpPr>
        <p:spPr>
          <a:xfrm>
            <a:off x="4460138" y="3840480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NCES private schools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8097317" y="3840480"/>
            <a:ext cx="3545738" cy="566928"/>
          </a:xfrm>
          <a:prstGeom prst="roundRect">
            <a:avLst>
              <a:gd name="adj" fmla="val 56452"/>
            </a:avLst>
          </a:prstGeom>
          <a:solidFill>
            <a:srgbClr val="EEF3FD"/>
          </a:solidFill>
          <a:ln/>
        </p:spPr>
      </p:sp>
      <p:sp>
        <p:nvSpPr>
          <p:cNvPr id="27" name="Text 20"/>
          <p:cNvSpPr/>
          <p:nvPr/>
        </p:nvSpPr>
        <p:spPr>
          <a:xfrm>
            <a:off x="8234477" y="3840480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F-33 school finance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548640" y="4590288"/>
            <a:ext cx="3545738" cy="566928"/>
          </a:xfrm>
          <a:prstGeom prst="roundRect">
            <a:avLst>
              <a:gd name="adj" fmla="val 56452"/>
            </a:avLst>
          </a:prstGeom>
          <a:solidFill>
            <a:srgbClr val="EEF3FD"/>
          </a:solidFill>
          <a:ln/>
        </p:spPr>
      </p:sp>
      <p:sp>
        <p:nvSpPr>
          <p:cNvPr id="29" name="Text 22"/>
          <p:cNvSpPr/>
          <p:nvPr/>
        </p:nvSpPr>
        <p:spPr>
          <a:xfrm>
            <a:off x="685800" y="4590288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SAIPE poverty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4322978" y="4590288"/>
            <a:ext cx="3545738" cy="566928"/>
          </a:xfrm>
          <a:prstGeom prst="roundRect">
            <a:avLst>
              <a:gd name="adj" fmla="val 56452"/>
            </a:avLst>
          </a:prstGeom>
          <a:solidFill>
            <a:srgbClr val="EEF3FD"/>
          </a:solidFill>
          <a:ln/>
        </p:spPr>
      </p:sp>
      <p:sp>
        <p:nvSpPr>
          <p:cNvPr id="31" name="Text 24"/>
          <p:cNvSpPr/>
          <p:nvPr/>
        </p:nvSpPr>
        <p:spPr>
          <a:xfrm>
            <a:off x="4460138" y="4590288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NAEP assessments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8097317" y="4590288"/>
            <a:ext cx="3545738" cy="566928"/>
          </a:xfrm>
          <a:prstGeom prst="roundRect">
            <a:avLst>
              <a:gd name="adj" fmla="val 56452"/>
            </a:avLst>
          </a:prstGeom>
          <a:solidFill>
            <a:srgbClr val="EEF3FD"/>
          </a:solidFill>
          <a:ln/>
        </p:spPr>
      </p:sp>
      <p:sp>
        <p:nvSpPr>
          <p:cNvPr id="33" name="Text 26"/>
          <p:cNvSpPr/>
          <p:nvPr/>
        </p:nvSpPr>
        <p:spPr>
          <a:xfrm>
            <a:off x="8234477" y="4590288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ISBE Illinois report card (9 sheets)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548640" y="5340096"/>
            <a:ext cx="3545738" cy="566928"/>
          </a:xfrm>
          <a:prstGeom prst="roundRect">
            <a:avLst>
              <a:gd name="adj" fmla="val 56452"/>
            </a:avLst>
          </a:prstGeom>
          <a:solidFill>
            <a:srgbClr val="EEF3FD"/>
          </a:solidFill>
          <a:ln/>
        </p:spPr>
      </p:sp>
      <p:sp>
        <p:nvSpPr>
          <p:cNvPr id="35" name="Text 28"/>
          <p:cNvSpPr/>
          <p:nvPr/>
        </p:nvSpPr>
        <p:spPr>
          <a:xfrm>
            <a:off x="685800" y="5340096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 World Schools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4322978" y="5340096"/>
            <a:ext cx="3545738" cy="566928"/>
          </a:xfrm>
          <a:prstGeom prst="roundRect">
            <a:avLst>
              <a:gd name="adj" fmla="val 56452"/>
            </a:avLst>
          </a:prstGeom>
          <a:solidFill>
            <a:srgbClr val="EEF3FD"/>
          </a:solidFill>
          <a:ln/>
        </p:spPr>
      </p:sp>
      <p:sp>
        <p:nvSpPr>
          <p:cNvPr id="37" name="Text 30"/>
          <p:cNvSpPr/>
          <p:nvPr/>
        </p:nvSpPr>
        <p:spPr>
          <a:xfrm>
            <a:off x="4460138" y="5340096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Opportunity Index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8097317" y="5340096"/>
            <a:ext cx="3545738" cy="566928"/>
          </a:xfrm>
          <a:prstGeom prst="roundRect">
            <a:avLst>
              <a:gd name="adj" fmla="val 56452"/>
            </a:avLst>
          </a:prstGeom>
          <a:solidFill>
            <a:srgbClr val="EEF3FD"/>
          </a:solidFill>
          <a:ln/>
        </p:spPr>
      </p:sp>
      <p:sp>
        <p:nvSpPr>
          <p:cNvPr id="39" name="Text 32"/>
          <p:cNvSpPr/>
          <p:nvPr/>
        </p:nvSpPr>
        <p:spPr>
          <a:xfrm>
            <a:off x="8234477" y="5340096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Board AP reports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Classification Capstone  |  Week 3 Status Update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ID-Matching Challenge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18608" cy="2286000"/>
          </a:xfrm>
          <a:prstGeom prst="roundRect">
            <a:avLst>
              <a:gd name="adj" fmla="val 3200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1965046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28800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sources share no ID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47699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IB, ISBE, and CPS each use their own school ID — none of them line up with the federal NCES ID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to connect them is by matching school names — which collide constantly (e.g. many “Mercy High School”s nationwide)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24448" y="1554480"/>
            <a:ext cx="5318608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98768" y="1810512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301" y="1965046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76008" y="1828800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fix: confidence tiers, not guesses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644488" y="246888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9"/>
          <p:cNvSpPr/>
          <p:nvPr/>
        </p:nvSpPr>
        <p:spPr>
          <a:xfrm>
            <a:off x="6873088" y="2322576"/>
            <a:ext cx="440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 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match, used directly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644488" y="292608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1"/>
          <p:cNvSpPr/>
          <p:nvPr/>
        </p:nvSpPr>
        <p:spPr>
          <a:xfrm>
            <a:off x="6873088" y="2779776"/>
            <a:ext cx="440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a human to confirm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644488" y="338328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3"/>
          <p:cNvSpPr/>
          <p:nvPr/>
        </p:nvSpPr>
        <p:spPr>
          <a:xfrm>
            <a:off x="6873088" y="3236976"/>
            <a:ext cx="440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trustworthy candidate found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411480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370832"/>
            <a:ext cx="594360" cy="594360"/>
          </a:xfrm>
          <a:prstGeom prst="ellipse">
            <a:avLst/>
          </a:prstGeom>
          <a:solidFill>
            <a:srgbClr val="3E8E5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4525366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4389120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solid today — real shared IDs, no fuzzy matching needed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600200" y="4846320"/>
            <a:ext cx="96313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NCES private schools ↔ ELSI private schools — same NCES ID system (72% direct match)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school finance ↔ SAIPE poverty — joined on LEAID (district ID)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Classification Capstone  |  Week 3 Status Update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Still Needed — 3 Asks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genuinely need Bob — College Board has no bulk CEEB export; one is already ours to fix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54298" cy="3840480"/>
          </a:xfrm>
          <a:prstGeom prst="roundRect">
            <a:avLst>
              <a:gd name="adj" fmla="val 2382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10029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0224" y="22475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71800"/>
            <a:ext cx="29970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NU Admissions' school list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290565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Board has no public bulk CEEB export — only a 1-at-a-time lookup. Bob's list (even outdated) is the only real source, and seeds both the NCES↔CEEB junction and Gap Detection.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361389" y="50749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0" name="Text 7"/>
          <p:cNvSpPr/>
          <p:nvPr/>
        </p:nvSpPr>
        <p:spPr>
          <a:xfrm>
            <a:off x="1361389" y="5074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Bob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68698" y="1737360"/>
            <a:ext cx="3454298" cy="3840480"/>
          </a:xfrm>
          <a:prstGeom prst="roundRect">
            <a:avLst>
              <a:gd name="adj" fmla="val 2382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30088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283" y="224759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7298" y="2971800"/>
            <a:ext cx="29970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College Board data access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43018" y="3703320"/>
            <a:ext cx="290565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School-level AP data requires institutional access. Until it lands, AP figures are national/state averages only. Already risk #1 in the proposal's risk log.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181448" y="50749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7" name="Text 13"/>
          <p:cNvSpPr/>
          <p:nvPr/>
        </p:nvSpPr>
        <p:spPr>
          <a:xfrm>
            <a:off x="5181448" y="5074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Bob (in progress)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188757" y="1737360"/>
            <a:ext cx="3454298" cy="3840480"/>
          </a:xfrm>
          <a:prstGeom prst="roundRect">
            <a:avLst>
              <a:gd name="adj" fmla="val 2382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550146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341" y="2247595"/>
            <a:ext cx="351130" cy="35113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7357" y="2971800"/>
            <a:ext cx="29970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Re-pull the NCES public export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463077" y="3703320"/>
            <a:ext cx="290565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file only has a truncated 7-digit school ID, which breaks the school-to-district funding join. Per the RACI, ours to fix — not Bob's.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001506" y="50749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24" name="Text 19"/>
          <p:cNvSpPr/>
          <p:nvPr/>
        </p:nvSpPr>
        <p:spPr>
          <a:xfrm>
            <a:off x="9001506" y="5074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Team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Classification Capstone  |  Week 3 Status Update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Deliverables — Status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920240"/>
            <a:ext cx="594360" cy="594360"/>
          </a:xfrm>
          <a:prstGeom prst="ellipse">
            <a:avLst/>
          </a:prstGeom>
          <a:solidFill>
            <a:srgbClr val="3E8E5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20747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288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600200" y="222199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3-layer pipeline architecture (raw → clean → enriched)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088575" y="1997964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9" name="Text 6"/>
          <p:cNvSpPr/>
          <p:nvPr/>
        </p:nvSpPr>
        <p:spPr>
          <a:xfrm>
            <a:off x="10088575" y="199796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08960"/>
            <a:ext cx="594360" cy="594360"/>
          </a:xfrm>
          <a:prstGeom prst="ellipse">
            <a:avLst/>
          </a:prstGeom>
          <a:solidFill>
            <a:srgbClr val="3E8E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94" y="326349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0175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started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600200" y="341071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profiling docs covering every source's grain, keys, and missingness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0088575" y="3186684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6" name="Text 12"/>
          <p:cNvSpPr/>
          <p:nvPr/>
        </p:nvSpPr>
        <p:spPr>
          <a:xfrm>
            <a:off x="10088575" y="318668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40690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4297680"/>
            <a:ext cx="594360" cy="594360"/>
          </a:xfrm>
          <a:prstGeom prst="ellipse">
            <a:avLst/>
          </a:prstGeom>
          <a:solidFill>
            <a:srgbClr val="3E8E5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445221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42062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concerns &amp; mitigations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600200" y="459943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Board access was already risk #1 in the proposal; the CEEB-sourcing gap is new and should be added to that log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10088575" y="4375404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23" name="Text 18"/>
          <p:cNvSpPr/>
          <p:nvPr/>
        </p:nvSpPr>
        <p:spPr>
          <a:xfrm>
            <a:off x="10088575" y="437540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5486400"/>
            <a:ext cx="594360" cy="59436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4" y="5640934"/>
            <a:ext cx="285293" cy="28529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00200" y="53949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matrix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1600200" y="578815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drafted in the proposal (Slide 5) — its own note flags it for team confirmation this week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10088575" y="5564124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30" name="Text 24"/>
          <p:cNvSpPr/>
          <p:nvPr/>
        </p:nvSpPr>
        <p:spPr>
          <a:xfrm>
            <a:off x="10088575" y="556412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Classification Capstone  |  Week 3 Status Update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Findings → Rigor Framework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“Rigor” isn't one number — it's four signal categories, each already mapped to profiled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1965960"/>
          </a:xfrm>
          <a:prstGeom prst="roundRect">
            <a:avLst>
              <a:gd name="adj" fmla="val 3721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0509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2024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Curricular Availability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8156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 DP/CP flags — 934 US high schools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availability rates (College Board)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ISBE CTE concentrator counts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78728" y="1691640"/>
            <a:ext cx="5364328" cy="1965960"/>
          </a:xfrm>
          <a:prstGeom prst="roundRect">
            <a:avLst>
              <a:gd name="adj" fmla="val 3721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07328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087" y="20509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47408" y="192024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Engagement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553048" y="2514600"/>
            <a:ext cx="48156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participation rates — national + by race/ethnicity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 programme participation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64328" cy="1965960"/>
          </a:xfrm>
          <a:prstGeom prst="roundRect">
            <a:avLst>
              <a:gd name="adj" fmla="val 3721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29127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1605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2960" y="4754880"/>
            <a:ext cx="48156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performance / exam score distributions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ISBE ACT scores &amp; IAR proficiency (IL)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NAEP state-level benchmarks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78728" y="3931920"/>
            <a:ext cx="5364328" cy="1965960"/>
          </a:xfrm>
          <a:prstGeom prst="roundRect">
            <a:avLst>
              <a:gd name="adj" fmla="val 3721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07328" y="4160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087" y="429127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47408" y="41605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Resource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553048" y="4754880"/>
            <a:ext cx="48156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for resources — doesn't penalize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Per-pupil expenditure, child poverty rate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Student/teacher ratio, size, locale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Opportunity Index — a precedent composite score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Classification Capstone  |  Week 3 Status Update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Anchors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7393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16582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91640"/>
            <a:ext cx="9082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NACAC “State of College Admission” reporting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00200" y="2020824"/>
            <a:ext cx="908273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of secondary school record consistently ranks as a top-weighted admissions factor — the direct justification for this project.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7980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940710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715768"/>
            <a:ext cx="9082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Board's Landscape &amp; AP Potential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600200" y="3044952"/>
            <a:ext cx="908273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industry tools that give admissions offices school/neighborhood context — the closest existing analogue to what we're building.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648456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8221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3964838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739896"/>
            <a:ext cx="9082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 Diploma Programme outcome research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600200" y="4069080"/>
            <a:ext cx="908273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IB's own validation work on the DP as a college-readiness signal.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4672584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8463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98896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4764024"/>
            <a:ext cx="9082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Education Civil Rights Data Collection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600200" y="5093208"/>
            <a:ext cx="908273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“Opportunity to Learn” equity framing — tracks AP/IB/dual-enrollment access by school. Not yet in our pipeline; a candidate future addition.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57424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9D48B"/>
          </a:solidFill>
          <a:ln/>
        </p:spPr>
      </p:sp>
      <p:sp>
        <p:nvSpPr>
          <p:cNvPr id="24" name="Text 18"/>
          <p:cNvSpPr/>
          <p:nvPr/>
        </p:nvSpPr>
        <p:spPr>
          <a:xfrm>
            <a:off x="777240" y="5742432"/>
            <a:ext cx="106372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limitation: </a:t>
            </a:r>
            <a:pPr indent="0" marL="0">
              <a:buNone/>
            </a:pPr>
            <a:r>
              <a:rPr lang="en-US" sz="10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school-level AP data isn't available yet (pending College Board access), so IB is presently our only per-school curricular signal with real coverage.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Classification Capstone  |  Week 3 Status Update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Preview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33574" cy="3291840"/>
          </a:xfrm>
          <a:prstGeom prst="roundRect">
            <a:avLst>
              <a:gd name="adj" fmla="val 3248"/>
            </a:avLst>
          </a:prstGeom>
          <a:solidFill>
            <a:srgbClr val="141B4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57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95387" y="260604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808" y="27724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383280"/>
            <a:ext cx="216781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remaining gaps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4069080"/>
            <a:ext cx="207637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the open items from the EDA docs into a tracked gap list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02254" y="1920240"/>
            <a:ext cx="2533574" cy="3291840"/>
          </a:xfrm>
          <a:prstGeom prst="roundRect">
            <a:avLst>
              <a:gd name="adj" fmla="val 3248"/>
            </a:avLst>
          </a:prstGeom>
          <a:solidFill>
            <a:srgbClr val="141B4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85134" y="2057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349001" y="260604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422" y="277246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85134" y="3383280"/>
            <a:ext cx="216781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candidate features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630854" y="4069080"/>
            <a:ext cx="207637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concrete feature list for modeling, drawn from the 4-part rigor framework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55868" y="1920240"/>
            <a:ext cx="2533574" cy="3291840"/>
          </a:xfrm>
          <a:prstGeom prst="roundRect">
            <a:avLst>
              <a:gd name="adj" fmla="val 3248"/>
            </a:avLst>
          </a:prstGeom>
          <a:solidFill>
            <a:srgbClr val="141B4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438748" y="2057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7202615" y="260604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035" y="277246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38748" y="3383280"/>
            <a:ext cx="216781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RACI + risk log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84468" y="4069080"/>
            <a:ext cx="207637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sign-off on the drafted RACI; add the CEEB-sourcing gap to the risk log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9109481" y="1920240"/>
            <a:ext cx="2533574" cy="3291840"/>
          </a:xfrm>
          <a:prstGeom prst="roundRect">
            <a:avLst>
              <a:gd name="adj" fmla="val 3248"/>
            </a:avLst>
          </a:prstGeom>
          <a:solidFill>
            <a:srgbClr val="141B4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9292361" y="2057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10056228" y="260604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649" y="2772461"/>
            <a:ext cx="307238" cy="30723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92361" y="3383280"/>
            <a:ext cx="216781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Methods section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338081" y="4069080"/>
            <a:ext cx="207637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drafting the design/methods section of the final paper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Classification Capstone  |  Week 3 Status Update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Rigor Classification Capstone — Database &amp; EDA Status</dc:title>
  <dc:subject>PptxGenJS Presentation</dc:subject>
  <dc:creator>Capstone Team</dc:creator>
  <cp:lastModifiedBy>Capstone Team</cp:lastModifiedBy>
  <cp:revision>1</cp:revision>
  <dcterms:created xsi:type="dcterms:W3CDTF">2026-07-06T17:06:12Z</dcterms:created>
  <dcterms:modified xsi:type="dcterms:W3CDTF">2026-07-06T17:06:12Z</dcterms:modified>
</cp:coreProperties>
</file>