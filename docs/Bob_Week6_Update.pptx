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meeting: everything here answers something they asked for in Week 5. Close on the per-course AP data ask -- that is what we need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bullet is the guardrail. If they ask 'can this rank students?', the answer is no by design: this gives a reader context for a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Landscape's failure mode was opacity. Ours is auditable: any tier can be walked back to its inputs, which is what lets them defend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direct answer to Bob's Week-5 pushback on equal buckets. The two schemes agree on only about half of schools, so the choice is consequential -- worth saying.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product, not just the method. Expect them to name a school they know and ask where it lands -- New Trier is Very Demanding, 96th percentile, and that is a reasonable-sounding answer to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came directly from Bob. Worth crediting him. The honest finding is that the additive index cannot surface these schools, so we ship the flag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their Week-5 question about the private-school number. Do not soften this: the blind spot is structural, and naming it is what makes the rest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SAT check is the strongest single result: an independent measure, never used to build the tier, rises monotonically across all five. Volunteer the grad-rate dip before they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defensive slide. If anyone claims the tier just re-ranks wealthy suburbs, this is the answer -- and the poverty correlation is the number to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 purpose of the meeting. Land the per-course ask concretely and get a yes/no. The vintage question has been open since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their decision, not ours. The priority use-case question determines what we build in the remaining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A1A1A"/>
                </a:solidFill>
                <a:latin typeface="Arial"/>
              </a:rPr>
              <a:t>High School Rigor Methodology</a:t>
            </a:r>
          </a:p>
          <a:p>
            <a:r>
              <a:rPr sz="1900" b="0">
                <a:solidFill>
                  <a:srgbClr val="555555"/>
                </a:solidFill>
                <a:latin typeface="Arial"/>
              </a:rPr>
              <a:t>Week-6 Client Update  ·  for Bob &amp; Adam, NU Admissions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Arial"/>
              </a:rPr>
              <a:t>MSDS 498 Capstone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Goal: a transparent, school-level measure of academic rigor, from public data, that NU can tie to its own internal data.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Built from your Week-5 asks: AP exam scores, the low-offering/high-scores idea, coverage transparency, STEM, graduation rate.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Validated: the tiers track real outcomes, and are not just a proxy for socioeconomic status.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Scope: we describe the school an applicant came from — not the applicant.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How we measure rigor — an index, not a black box</a:t>
            </a:r>
          </a:p>
        </p:txBody>
      </p:sp>
      <p:pic>
        <p:nvPicPr>
          <p:cNvPr id="3" name="Picture 2" descr="index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39747"/>
            <a:ext cx="7315200" cy="34929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Composite index: a weighted average of five standardized components → one rigor score.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Decomposable: every tier traces back to the features that produced it (the Landscape lesson).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Performance-weighted: AP exam scores, not just what's offered (Geiser &amp; Santelices, 2004).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No imputation: a school is scored on the components it actually has, or not scored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Your ask: not equal buckets</a:t>
            </a:r>
          </a:p>
        </p:txBody>
      </p:sp>
      <p:pic>
        <p:nvPicPr>
          <p:cNvPr id="3" name="Picture 2" descr="tier_cut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34653"/>
            <a:ext cx="7315200" cy="3703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Method: natural breaks — cuts fall at the real gaps in the distribution, not at fixed percentiles.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Result: 'Most Demanding' is 295 schools, not a forced top 20%.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Tier sizes vary because schools genuinely cluster — 8,905 land in the middle.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Alternative kept on the shelf: equal-fifths, if you ever want fixed-size tiers.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What a school looks like when it comes out</a:t>
            </a:r>
          </a:p>
        </p:txBody>
      </p:sp>
      <p:pic>
        <p:nvPicPr>
          <p:cNvPr id="3" name="Picture 2" descr="schoo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1921"/>
            <a:ext cx="7315200" cy="30285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Deliverable: per school — a tier, a score, a percentile, and the components behind it.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Auditable: a counselor or reader can see exactly why a school landed where it did.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Joinable: keyed on CEEB, so it drops straight into your existing systems.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Coverage note: this school scored on 4 of 5 components — we show that, we don't hide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Your idea: low AP offering / high AP scores</a:t>
            </a:r>
          </a:p>
        </p:txBody>
      </p:sp>
      <p:pic>
        <p:nvPicPr>
          <p:cNvPr id="3" name="Picture 2" descr="ap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95796"/>
            <a:ext cx="7315200" cy="2980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Selective &amp; effective: few APs offered, high exam scores — 1,597 schools.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The catch: only 3 reach the top tier; a thin catalog drags the composite down.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So: these 'do a lot with little' schools are hidden by the tier alone.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Use: a recruiting signal — ships alongside the tier, not folded into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Data coverage — public vs private</a:t>
            </a:r>
          </a:p>
        </p:txBody>
      </p:sp>
      <p:pic>
        <p:nvPicPr>
          <p:cNvPr id="3" name="Picture 2" descr="coverage_by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16782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Not missing-at-random: reported per sector.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CRDC: AP participation, testtaker rate, grad rate — public-only by law → ~0% private.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NU analytics: AP/SAT scores track your recruiting universe (~35%).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Consequence: private-school tiers rest on the thin NU block + IB — a documented blind spot.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Does the tier mean something? Yes.</a:t>
            </a:r>
          </a:p>
        </p:txBody>
      </p:sp>
      <p:pic>
        <p:nvPicPr>
          <p:cNvPr id="3" name="Picture 2" descr="rigo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9167"/>
            <a:ext cx="7315200" cy="4734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Checked against measures the tier was NOT built from: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     ·  SAT rises across every tier: 1,066 → 1,288, no inversions.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     ·  Graduation rate separates the bottom tier sharply (70% vs 84–89%).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Honest note: the top tier reflects exam performance, not catalog size — so grad rate plateaus at the top rather than peaking.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It predicts outcomes — and isn't just an SES proxy</a:t>
            </a:r>
          </a:p>
        </p:txBody>
      </p:sp>
      <p:pic>
        <p:nvPicPr>
          <p:cNvPr id="3" name="Picture 2" descr="predictiv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42540"/>
            <a:ext cx="7315200" cy="268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Model: graduation rate ~ opportunity features (Adelman, 1999).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Result: opportunity adds +5 pts R² beyond socioeconomic status — stable across models.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Tension: the outcome IS SES-driven (free-lunch rate dominates)…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…yet the index correlates with poverty at only −0.11 → opportunity, not laundered demographics.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What we'd need from you, and how it ties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Data ask: per-course AP score distributions (Calc BC vs Calc BC across schools) — lets us verify rigor at the course level.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Open question: the measurement vintage of the org export — what year do those SAT/AP averages describe?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Level: our tier is school-level; your counselor 'most demanding coursework' field is per-student — they complement each other.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Handoff: the methodology is built to recalibrate against your internal outcomes (enrollment, GPA, retention).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Next steps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Tier public and private separately — they aren't built from the same data.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Validate on a second outcome (college-going).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Package the methodology for handoff to your team.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Your input: tier definitions, the per-course data ask, priority use-case (contextualization vs. outreach).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